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12188950"/>
  <p:notesSz cx="6858000" cy="9144000"/>
  <p:embeddedFontLst>
    <p:embeddedFont>
      <p:font typeface="Lato"/>
      <p:regular r:id="rId46"/>
      <p:bold r:id="rId47"/>
      <p:italic r:id="rId48"/>
      <p:boldItalic r:id="rId49"/>
    </p:embeddedFont>
    <p:embeddedFont>
      <p:font typeface="Ubuntu Mono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383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La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UbuntuMono-bold.fntdata"/><Relationship Id="rId50" Type="http://schemas.openxmlformats.org/officeDocument/2006/relationships/font" Target="fonts/UbuntuMono-regular.fntdata"/><Relationship Id="rId53" Type="http://schemas.openxmlformats.org/officeDocument/2006/relationships/font" Target="fonts/UbuntuMono-boldItalic.fntdata"/><Relationship Id="rId52" Type="http://schemas.openxmlformats.org/officeDocument/2006/relationships/font" Target="fonts/Ubuntu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052c762d3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4052c762d3_0_235:notes"/>
          <p:cNvSpPr/>
          <p:nvPr>
            <p:ph idx="2" type="sldImg"/>
          </p:nvPr>
        </p:nvSpPr>
        <p:spPr>
          <a:xfrm>
            <a:off x="1143797" y="685800"/>
            <a:ext cx="4571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0028e5c25_0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0028e5c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8d953d6f_0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98d953d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0028e5c25_0_1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0028e5c2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98d953d6f_0_6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98d953d6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98d953d6f_0_6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98d953d6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8d953d6f_0_2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98d953d6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0028e5c25_0_3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0028e5c2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0028e5c25_0_3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0028e5c2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0028e5c25_0_4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0028e5c2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0028e5c25_0_5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0028e5c2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0028e5c25_0_5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0028e5c2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0028e5c25_0_6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0028e5c2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0028e5c25_0_7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0028e5c2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0028e5c25_0_7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0028e5c2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0028e5c25_0_8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0028e5c2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0028e5c25_0_8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0028e5c2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0028e5c25_0_9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0028e5c2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0028e5c25_0_10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0028e5c2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e33bf0c4b9_1_34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2e33bf0c4b9_1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ac403a3ab_2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ac403a3a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ac403a3ab_2_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fac403a3ab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ac403a3ab_2_1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ac403a3ab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ac403a3ab_2_1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ac403a3ab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ac403a3ab_2_2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ac403a3ab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ac403a3ab_2_3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ac403a3ab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ac403a3ab_2_4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ac403a3ab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ac403a3ab_2_5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fac403a3ab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ac403a3ab_2_5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fac403a3ab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ac403a3ab_2_6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fac403a3ab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ac403a3ab_2_6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ac403a3ab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ac403a3ab_2_7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fac403a3ab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ac403a3ab_2_7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fac403a3ab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ac403a3ab_2_8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fac403a3ab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ac403a3ab_2_8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fac403a3ab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ac403a3ab_2_9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ac403a3ab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ac403a3ab_2_9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fac403a3ab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ac403a3ab_2_10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fac403a3ab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ac403a3ab_2_10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fac403a3ab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ac403a3ab_2_11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fac403a3ab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3619" y="1122363"/>
            <a:ext cx="91416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3619" y="3602038"/>
            <a:ext cx="91416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642" y="1709738"/>
            <a:ext cx="10512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37990" y="1825625"/>
            <a:ext cx="518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6170656" y="1825625"/>
            <a:ext cx="518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839578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839578" y="1681163"/>
            <a:ext cx="51564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839578" y="2505075"/>
            <a:ext cx="5156400" cy="3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6170656" y="1681163"/>
            <a:ext cx="5181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4" type="body"/>
          </p:nvPr>
        </p:nvSpPr>
        <p:spPr>
          <a:xfrm>
            <a:off x="6170656" y="2505075"/>
            <a:ext cx="5181900" cy="36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839578" y="457200"/>
            <a:ext cx="39315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5181891" y="987425"/>
            <a:ext cx="61710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9"/>
          <p:cNvSpPr txBox="1"/>
          <p:nvPr>
            <p:ph idx="2" type="body"/>
          </p:nvPr>
        </p:nvSpPr>
        <p:spPr>
          <a:xfrm>
            <a:off x="839578" y="2057400"/>
            <a:ext cx="39315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>
            <p:ph type="title"/>
          </p:nvPr>
        </p:nvSpPr>
        <p:spPr>
          <a:xfrm>
            <a:off x="839578" y="457200"/>
            <a:ext cx="39315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6" name="Google Shape;86;p10"/>
          <p:cNvSpPr/>
          <p:nvPr>
            <p:ph idx="2" type="pic"/>
          </p:nvPr>
        </p:nvSpPr>
        <p:spPr>
          <a:xfrm>
            <a:off x="5181891" y="987425"/>
            <a:ext cx="61710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839578" y="2057400"/>
            <a:ext cx="39315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88" name="Google Shape;88;p10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 rot="5400000">
            <a:off x="3918910" y="-1255225"/>
            <a:ext cx="4351200" cy="105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/>
          <p:nvPr>
            <p:ph type="title"/>
          </p:nvPr>
        </p:nvSpPr>
        <p:spPr>
          <a:xfrm rot="5400000">
            <a:off x="7131010" y="1957075"/>
            <a:ext cx="5811900" cy="26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" type="body"/>
          </p:nvPr>
        </p:nvSpPr>
        <p:spPr>
          <a:xfrm rot="5400000">
            <a:off x="1798155" y="-595175"/>
            <a:ext cx="5811900" cy="77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" name="Google Shape;10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59129" y="4128138"/>
            <a:ext cx="2932615" cy="274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9" y="6014906"/>
            <a:ext cx="865792" cy="86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7793" y="100668"/>
            <a:ext cx="902991" cy="864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/>
          <p:nvPr/>
        </p:nvSpPr>
        <p:spPr>
          <a:xfrm>
            <a:off x="0" y="0"/>
            <a:ext cx="12189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" name="Google Shape;114;p13"/>
          <p:cNvGrpSpPr/>
          <p:nvPr/>
        </p:nvGrpSpPr>
        <p:grpSpPr>
          <a:xfrm>
            <a:off x="1486655" y="1006955"/>
            <a:ext cx="994103" cy="61102"/>
            <a:chOff x="4580561" y="2589004"/>
            <a:chExt cx="1064464" cy="25200"/>
          </a:xfrm>
        </p:grpSpPr>
        <p:sp>
          <p:nvSpPr>
            <p:cNvPr id="115" name="Google Shape;115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13"/>
          <p:cNvSpPr txBox="1"/>
          <p:nvPr>
            <p:ph type="title"/>
          </p:nvPr>
        </p:nvSpPr>
        <p:spPr>
          <a:xfrm>
            <a:off x="1486661" y="1176700"/>
            <a:ext cx="92157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18" name="Google Shape;118;p13"/>
          <p:cNvSpPr txBox="1"/>
          <p:nvPr>
            <p:ph idx="1" type="body"/>
          </p:nvPr>
        </p:nvSpPr>
        <p:spPr>
          <a:xfrm>
            <a:off x="1486661" y="2190333"/>
            <a:ext cx="9215700" cy="3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55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3655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119" name="Google Shape;119;p13"/>
          <p:cNvSpPr txBox="1"/>
          <p:nvPr>
            <p:ph idx="12" type="sldNum"/>
          </p:nvPr>
        </p:nvSpPr>
        <p:spPr>
          <a:xfrm>
            <a:off x="11378889" y="6333135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7990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7590" y="6356350"/>
            <a:ext cx="411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08446" y="6356350"/>
            <a:ext cx="274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000000"/>
                </a:solidFill>
              </a:rPr>
              <a:t>CSE470: Software Engineering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Calibri"/>
                <a:ea typeface="Calibri"/>
                <a:cs typeface="Calibri"/>
                <a:sym typeface="Calibri"/>
              </a:rPr>
              <a:t>Factory </a:t>
            </a:r>
            <a:r>
              <a:rPr lang="en" sz="3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sz="3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libri"/>
                <a:ea typeface="Calibri"/>
                <a:cs typeface="Calibri"/>
                <a:sym typeface="Calibri"/>
              </a:rPr>
              <a:t>Head First Design Pattern Page: 147 (107) - 167 (129)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838000" y="1825625"/>
            <a:ext cx="10611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spcBef>
                <a:spcPts val="1100"/>
              </a:spcBef>
              <a:spcAft>
                <a:spcPts val="0"/>
              </a:spcAft>
              <a:buSzPts val="1900"/>
              <a:buChar char="•"/>
            </a:pPr>
            <a:r>
              <a:rPr b="1" i="1" lang="en"/>
              <a:t>Defines an interface for creating an object, but lets subclasses decide which class to instantiate.</a:t>
            </a:r>
            <a:endParaRPr b="1" i="1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b="1" i="1" lang="en"/>
              <a:t>Factory pattern is used to create object without exposing the instantiation logic to the client.</a:t>
            </a:r>
            <a:endParaRPr b="1" i="1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Factory Method lets a class defer instantiation to its subclasses.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Also known as the Virtual Constructor.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</a:t>
            </a:r>
            <a:r>
              <a:rPr lang="en"/>
              <a:t> Design P</a:t>
            </a:r>
            <a:r>
              <a:rPr lang="en"/>
              <a:t>attern - </a:t>
            </a:r>
            <a:r>
              <a:rPr lang="en"/>
              <a:t>Example</a:t>
            </a:r>
            <a:endParaRPr/>
          </a:p>
        </p:txBody>
      </p:sp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54659" t="12111"/>
          <a:stretch/>
        </p:blipFill>
        <p:spPr>
          <a:xfrm>
            <a:off x="1258975" y="1992175"/>
            <a:ext cx="4346251" cy="47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16"/>
          <p:cNvCxnSpPr/>
          <p:nvPr/>
        </p:nvCxnSpPr>
        <p:spPr>
          <a:xfrm flipH="1">
            <a:off x="4120850" y="306480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Design Pattern </a:t>
            </a:r>
            <a:r>
              <a:rPr lang="en"/>
              <a:t>- Implementation </a:t>
            </a:r>
            <a:endParaRPr/>
          </a:p>
        </p:txBody>
      </p:sp>
      <p:sp>
        <p:nvSpPr>
          <p:cNvPr id="144" name="Google Shape;144;p17"/>
          <p:cNvSpPr txBox="1"/>
          <p:nvPr>
            <p:ph idx="1" type="body"/>
          </p:nvPr>
        </p:nvSpPr>
        <p:spPr>
          <a:xfrm>
            <a:off x="838000" y="1825625"/>
            <a:ext cx="5256600" cy="334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abstract class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abstract void open();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DrawingDocument extends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open()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TextDocument extends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open()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6094600" y="1825625"/>
            <a:ext cx="5256600" cy="334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Application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void newDocument()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// Document is abstract - cannot instantiate</a:t>
            </a:r>
            <a:endParaRPr sz="16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// Hard-coding a subclass locks us in.</a:t>
            </a:r>
            <a:endParaRPr sz="16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// violates DRY Principle.</a:t>
            </a:r>
            <a:endParaRPr sz="16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Document doc = new DrawingDocument();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doc</a:t>
            </a: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.open();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46" name="Google Shape;146;p17"/>
          <p:cNvSpPr txBox="1"/>
          <p:nvPr>
            <p:ph idx="1" type="body"/>
          </p:nvPr>
        </p:nvSpPr>
        <p:spPr>
          <a:xfrm>
            <a:off x="838000" y="5172525"/>
            <a:ext cx="10512900" cy="100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knows WHEN a document should be created, not WHAT KIND. Hard-coding the subclass is not a scalable solution.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</a:t>
            </a:r>
            <a:endParaRPr/>
          </a:p>
        </p:txBody>
      </p:sp>
      <p:pic>
        <p:nvPicPr>
          <p:cNvPr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44669" r="0" t="12709"/>
          <a:stretch/>
        </p:blipFill>
        <p:spPr>
          <a:xfrm>
            <a:off x="5540650" y="2024475"/>
            <a:ext cx="5303852" cy="4709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18"/>
          <p:cNvCxnSpPr/>
          <p:nvPr/>
        </p:nvCxnSpPr>
        <p:spPr>
          <a:xfrm flipH="1">
            <a:off x="8111275" y="299475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</a:t>
            </a:r>
            <a:r>
              <a:rPr lang="en"/>
              <a:t>Example</a:t>
            </a:r>
            <a:endParaRPr/>
          </a:p>
        </p:txBody>
      </p:sp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975" y="1338950"/>
            <a:ext cx="9585526" cy="5394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/>
          <p:nvPr/>
        </p:nvCxnSpPr>
        <p:spPr>
          <a:xfrm flipH="1">
            <a:off x="4120850" y="306480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19"/>
          <p:cNvCxnSpPr/>
          <p:nvPr/>
        </p:nvCxnSpPr>
        <p:spPr>
          <a:xfrm flipH="1">
            <a:off x="8111275" y="299475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</a:t>
            </a:r>
            <a:r>
              <a:rPr lang="en"/>
              <a:t>Structure</a:t>
            </a:r>
            <a:endParaRPr/>
          </a:p>
        </p:txBody>
      </p:sp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 b="67066" l="0" r="0" t="0"/>
          <a:stretch/>
        </p:blipFill>
        <p:spPr>
          <a:xfrm>
            <a:off x="838000" y="2961200"/>
            <a:ext cx="4933074" cy="17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 rotWithShape="1">
          <a:blip r:embed="rId3">
            <a:alphaModFix/>
          </a:blip>
          <a:srcRect b="22107" l="23442" r="25719" t="41842"/>
          <a:stretch/>
        </p:blipFill>
        <p:spPr>
          <a:xfrm>
            <a:off x="5900975" y="2961200"/>
            <a:ext cx="2507851" cy="192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 rotWithShape="1">
          <a:blip r:embed="rId3">
            <a:alphaModFix/>
          </a:blip>
          <a:srcRect b="5585" l="32082" r="34433" t="86078"/>
          <a:stretch/>
        </p:blipFill>
        <p:spPr>
          <a:xfrm>
            <a:off x="9867400" y="2961200"/>
            <a:ext cx="1651801" cy="44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4">
            <a:alphaModFix/>
          </a:blip>
          <a:srcRect b="39817" l="66514" r="17041" t="25044"/>
          <a:stretch/>
        </p:blipFill>
        <p:spPr>
          <a:xfrm>
            <a:off x="8293775" y="2961200"/>
            <a:ext cx="1495073" cy="176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 b="5585" l="32082" r="34433" t="86078"/>
          <a:stretch/>
        </p:blipFill>
        <p:spPr>
          <a:xfrm>
            <a:off x="9867400" y="4123950"/>
            <a:ext cx="1651801" cy="446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925275" y="2343450"/>
            <a:ext cx="7368600" cy="3129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20"/>
          <p:cNvCxnSpPr/>
          <p:nvPr/>
        </p:nvCxnSpPr>
        <p:spPr>
          <a:xfrm rot="10800000">
            <a:off x="4107775" y="3265325"/>
            <a:ext cx="2200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0"/>
          <p:cNvCxnSpPr/>
          <p:nvPr/>
        </p:nvCxnSpPr>
        <p:spPr>
          <a:xfrm flipH="1">
            <a:off x="5556775" y="4504375"/>
            <a:ext cx="751200" cy="21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0"/>
          <p:cNvCxnSpPr/>
          <p:nvPr/>
        </p:nvCxnSpPr>
        <p:spPr>
          <a:xfrm flipH="1">
            <a:off x="7662800" y="2159625"/>
            <a:ext cx="1019700" cy="1247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0"/>
          <p:cNvSpPr txBox="1"/>
          <p:nvPr/>
        </p:nvSpPr>
        <p:spPr>
          <a:xfrm>
            <a:off x="6573875" y="1534725"/>
            <a:ext cx="5521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 Factory method:</a:t>
            </a:r>
            <a:r>
              <a:rPr b="1"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create_product()</a:t>
            </a:r>
            <a:endParaRPr b="1"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419550" y="5777975"/>
            <a:ext cx="5769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Implements</a:t>
            </a:r>
            <a:r>
              <a:rPr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Factory method:</a:t>
            </a:r>
            <a:r>
              <a:rPr b="1"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create_product()</a:t>
            </a:r>
            <a:endParaRPr b="1"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 rot="10800000">
            <a:off x="7477950" y="4817425"/>
            <a:ext cx="1291500" cy="1113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Definition</a:t>
            </a:r>
            <a:r>
              <a:rPr lang="en"/>
              <a:t>: The Factory Method Pattern defines an interface for creating an object, but lets subclasses decide which class to instantiate.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Motivation</a:t>
            </a:r>
            <a:r>
              <a:rPr lang="en"/>
              <a:t>:</a:t>
            </a:r>
            <a:endParaRPr/>
          </a:p>
          <a:p>
            <a:pPr indent="-349250" lvl="0" marL="457200" rtl="0" algn="l">
              <a:spcBef>
                <a:spcPts val="110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 class cannot anticipate the class of objects it must create (e.g., a framework only knows abstract classes).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 class wants its subclasses to specify the objects it creates.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Classes delegate responsibility to one of several helper subclasses, and we want to localize the knowledge of which helper is the delegate.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Participants:</a:t>
            </a:r>
            <a:endParaRPr b="1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Product</a:t>
            </a:r>
            <a:r>
              <a:rPr lang="en"/>
              <a:t> (e.g., Document)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Defines the interface of the objects the factory method creates.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ConcreteProduct</a:t>
            </a:r>
            <a:r>
              <a:rPr lang="en"/>
              <a:t> (e.g., MyDocument)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Implements the Product interface.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Creator</a:t>
            </a:r>
            <a:r>
              <a:rPr lang="en"/>
              <a:t> (e.g., Application)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Declares the factory method, which returns an object of type Product. May call the factory method to create a Product object.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ConcreteCreator</a:t>
            </a:r>
            <a:r>
              <a:rPr lang="en"/>
              <a:t> (e.g., MyApplication)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/>
              <a:t>    – Overrides the factory method to return an instance of a ConcreteProduct.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</a:t>
            </a:r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 rotWithShape="1">
          <a:blip r:embed="rId3">
            <a:alphaModFix/>
          </a:blip>
          <a:srcRect b="0" l="0" r="15782" t="0"/>
          <a:stretch/>
        </p:blipFill>
        <p:spPr>
          <a:xfrm>
            <a:off x="2096075" y="2121400"/>
            <a:ext cx="7996800" cy="400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 (Python)</a:t>
            </a:r>
            <a:endParaRPr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from abc import ABC, 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Product(ABC):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 pass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ConcreteProduct(Product):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print("ConcreteProduct operation")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Creator(ABC):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create_product(self): pass   # the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 = self.create_product()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product.operation()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ConcreteCreator(Creator):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create_product(self):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ConcreteProduct()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Structure (Python)</a:t>
            </a:r>
            <a:endParaRPr/>
          </a:p>
        </p:txBody>
      </p:sp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if __name__ == "__main__":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Client code works through the Creator interface;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the concrete subclass decides which Product is built.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creator = ConcreteCreator()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creator.operation()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Structure (Python)</a:t>
            </a:r>
            <a:endParaRPr/>
          </a:p>
        </p:txBody>
      </p:sp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OUTPUT=&gt;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ConcreteProduct operation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Example (Python)</a:t>
            </a:r>
            <a:endParaRPr/>
          </a:p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from abc import ABC, 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Document(ABC):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pass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DrawingDocument(Document):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print("Opening drawing document")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TextDocument(Document):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print("Opening text document")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Application(ABC):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create_document(self): pass   #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new_document(self):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 = self.create_document()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doc.open()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DrawingApplication(Application):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create_document(self):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DrawingDocument()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Example (Python)</a:t>
            </a:r>
            <a:endParaRPr/>
          </a:p>
        </p:txBody>
      </p:sp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if __name__ == "__main__":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app = DrawingApplication()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app.new_document()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Application never referenced DrawingDocument directly.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Swapping to a TextApplication subclass would change the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product with no edits inside Application.new_document.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Structure (Java)</a:t>
            </a:r>
            <a:endParaRPr/>
          </a:p>
        </p:txBody>
      </p:sp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Product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void operation();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ConcreteProduct extends Product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operation()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System.out.println("ConcreteProduct operation");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Creator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Product createProduct();   //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operation()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 p = createProduct();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p.operation();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ConcreteCreator extends Creator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Product createProduct()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new ConcreteProduct();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Structure (Java)</a:t>
            </a:r>
            <a:endParaRPr/>
          </a:p>
        </p:txBody>
      </p:sp>
      <p:sp>
        <p:nvSpPr>
          <p:cNvPr id="238" name="Google Shape;238;p30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Creator creator = new ConcreteCreator();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creator.operation();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Example (Java)</a:t>
            </a:r>
            <a:endParaRPr/>
          </a:p>
        </p:txBody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Document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void open();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DrawingDocument extends Document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open() { /* ... */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Application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Document createDocument(); //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newDocument()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Document doc = createDocument();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doc.open();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DrawingApplication extends Application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Document createDocument()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new DrawingDocument();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r>
              <a:rPr lang="en"/>
              <a:t> - Example (Java)</a:t>
            </a:r>
            <a:endParaRPr/>
          </a:p>
        </p:txBody>
      </p:sp>
      <p:sp>
        <p:nvSpPr>
          <p:cNvPr id="250" name="Google Shape;250;p32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public class Main {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public static void main(String[] args) {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    Application app = new DrawingApplication();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    app.newDocument();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type="title"/>
          </p:nvPr>
        </p:nvSpPr>
        <p:spPr>
          <a:xfrm>
            <a:off x="831642" y="1709738"/>
            <a:ext cx="10512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838000" y="1825625"/>
            <a:ext cx="10611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spcBef>
                <a:spcPts val="1100"/>
              </a:spcBef>
              <a:spcAft>
                <a:spcPts val="0"/>
              </a:spcAft>
              <a:buSzPts val="1900"/>
              <a:buChar char="•"/>
            </a:pPr>
            <a:r>
              <a:rPr b="1" i="1" lang="en"/>
              <a:t>Defines an interface for creating an object, but lets subclasses decide which class to instantiate.</a:t>
            </a:r>
            <a:endParaRPr b="1" i="1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b="1" i="1" lang="en"/>
              <a:t>Factory pattern is used to create object without exposing the instantiation logic to the client.</a:t>
            </a:r>
            <a:endParaRPr b="1" i="1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Factory Method lets a class defer instantiation to its subclasses.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Also known as the Virtual Constructor.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pic>
        <p:nvPicPr>
          <p:cNvPr id="267" name="Google Shape;267;p35"/>
          <p:cNvPicPr preferRelativeResize="0"/>
          <p:nvPr/>
        </p:nvPicPr>
        <p:blipFill rotWithShape="1">
          <a:blip r:embed="rId3">
            <a:alphaModFix/>
          </a:blip>
          <a:srcRect b="0" l="0" r="54659" t="12111"/>
          <a:stretch/>
        </p:blipFill>
        <p:spPr>
          <a:xfrm>
            <a:off x="1258975" y="1992175"/>
            <a:ext cx="4346251" cy="4741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35"/>
          <p:cNvCxnSpPr/>
          <p:nvPr/>
        </p:nvCxnSpPr>
        <p:spPr>
          <a:xfrm flipH="1">
            <a:off x="4120850" y="306480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</a:t>
            </a:r>
            <a:endParaRPr/>
          </a:p>
        </p:txBody>
      </p:sp>
      <p:sp>
        <p:nvSpPr>
          <p:cNvPr id="274" name="Google Shape;274;p36"/>
          <p:cNvSpPr txBox="1"/>
          <p:nvPr>
            <p:ph idx="1" type="body"/>
          </p:nvPr>
        </p:nvSpPr>
        <p:spPr>
          <a:xfrm>
            <a:off x="838000" y="1825625"/>
            <a:ext cx="5256600" cy="334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abstract class Notification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abstract void open();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Email extends Notification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send()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SMS extends Notification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send()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75" name="Google Shape;275;p36"/>
          <p:cNvSpPr txBox="1"/>
          <p:nvPr>
            <p:ph idx="1" type="body"/>
          </p:nvPr>
        </p:nvSpPr>
        <p:spPr>
          <a:xfrm>
            <a:off x="6094600" y="1825625"/>
            <a:ext cx="5993100" cy="33468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Application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void newNotification()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// </a:t>
            </a:r>
            <a:r>
              <a:rPr lang="en" sz="1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Notification is abstract - cannot instantiate</a:t>
            </a:r>
            <a:endParaRPr sz="16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//</a:t>
            </a:r>
            <a:r>
              <a:rPr lang="en" sz="1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 Hard-coding a subclass locks us in.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Notification notification = new Email();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notification.send();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76" name="Google Shape;276;p36"/>
          <p:cNvSpPr txBox="1"/>
          <p:nvPr>
            <p:ph idx="1" type="body"/>
          </p:nvPr>
        </p:nvSpPr>
        <p:spPr>
          <a:xfrm>
            <a:off x="838000" y="5172525"/>
            <a:ext cx="10512900" cy="100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knows WHEN a document should be created, not WHAT KIND. Hard-coding the subclass is not a scalable solution.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pic>
        <p:nvPicPr>
          <p:cNvPr id="282" name="Google Shape;282;p37"/>
          <p:cNvPicPr preferRelativeResize="0"/>
          <p:nvPr/>
        </p:nvPicPr>
        <p:blipFill rotWithShape="1">
          <a:blip r:embed="rId3">
            <a:alphaModFix/>
          </a:blip>
          <a:srcRect b="0" l="44669" r="0" t="12709"/>
          <a:stretch/>
        </p:blipFill>
        <p:spPr>
          <a:xfrm>
            <a:off x="5540650" y="2024475"/>
            <a:ext cx="5303852" cy="4709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37"/>
          <p:cNvCxnSpPr/>
          <p:nvPr/>
        </p:nvCxnSpPr>
        <p:spPr>
          <a:xfrm flipH="1">
            <a:off x="8111275" y="299475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pic>
        <p:nvPicPr>
          <p:cNvPr id="289" name="Google Shape;2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975" y="1338950"/>
            <a:ext cx="9585526" cy="5394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0" name="Google Shape;290;p38"/>
          <p:cNvCxnSpPr/>
          <p:nvPr/>
        </p:nvCxnSpPr>
        <p:spPr>
          <a:xfrm flipH="1">
            <a:off x="4120850" y="306480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38"/>
          <p:cNvCxnSpPr/>
          <p:nvPr/>
        </p:nvCxnSpPr>
        <p:spPr>
          <a:xfrm flipH="1">
            <a:off x="8111275" y="2994750"/>
            <a:ext cx="560400" cy="72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pic>
        <p:nvPicPr>
          <p:cNvPr id="297" name="Google Shape;297;p39"/>
          <p:cNvPicPr preferRelativeResize="0"/>
          <p:nvPr/>
        </p:nvPicPr>
        <p:blipFill rotWithShape="1">
          <a:blip r:embed="rId3">
            <a:alphaModFix/>
          </a:blip>
          <a:srcRect b="67066" l="0" r="0" t="0"/>
          <a:stretch/>
        </p:blipFill>
        <p:spPr>
          <a:xfrm>
            <a:off x="838000" y="2961200"/>
            <a:ext cx="4933074" cy="17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9"/>
          <p:cNvPicPr preferRelativeResize="0"/>
          <p:nvPr/>
        </p:nvPicPr>
        <p:blipFill rotWithShape="1">
          <a:blip r:embed="rId3">
            <a:alphaModFix/>
          </a:blip>
          <a:srcRect b="22107" l="23442" r="25719" t="41842"/>
          <a:stretch/>
        </p:blipFill>
        <p:spPr>
          <a:xfrm>
            <a:off x="5900975" y="2961200"/>
            <a:ext cx="2507851" cy="192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9"/>
          <p:cNvPicPr preferRelativeResize="0"/>
          <p:nvPr/>
        </p:nvPicPr>
        <p:blipFill rotWithShape="1">
          <a:blip r:embed="rId3">
            <a:alphaModFix/>
          </a:blip>
          <a:srcRect b="5585" l="32082" r="34433" t="86078"/>
          <a:stretch/>
        </p:blipFill>
        <p:spPr>
          <a:xfrm>
            <a:off x="9867400" y="2961200"/>
            <a:ext cx="1651801" cy="44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9"/>
          <p:cNvPicPr preferRelativeResize="0"/>
          <p:nvPr/>
        </p:nvPicPr>
        <p:blipFill rotWithShape="1">
          <a:blip r:embed="rId4">
            <a:alphaModFix/>
          </a:blip>
          <a:srcRect b="39817" l="66514" r="17041" t="25044"/>
          <a:stretch/>
        </p:blipFill>
        <p:spPr>
          <a:xfrm>
            <a:off x="8293775" y="2961200"/>
            <a:ext cx="1495073" cy="176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9"/>
          <p:cNvPicPr preferRelativeResize="0"/>
          <p:nvPr/>
        </p:nvPicPr>
        <p:blipFill rotWithShape="1">
          <a:blip r:embed="rId3">
            <a:alphaModFix/>
          </a:blip>
          <a:srcRect b="5585" l="32082" r="34433" t="86078"/>
          <a:stretch/>
        </p:blipFill>
        <p:spPr>
          <a:xfrm>
            <a:off x="9867400" y="4123950"/>
            <a:ext cx="1651801" cy="446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9"/>
          <p:cNvSpPr/>
          <p:nvPr/>
        </p:nvSpPr>
        <p:spPr>
          <a:xfrm>
            <a:off x="925275" y="2343450"/>
            <a:ext cx="7368600" cy="3129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39"/>
          <p:cNvCxnSpPr/>
          <p:nvPr/>
        </p:nvCxnSpPr>
        <p:spPr>
          <a:xfrm rot="10800000">
            <a:off x="4107775" y="3265325"/>
            <a:ext cx="2200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39"/>
          <p:cNvCxnSpPr/>
          <p:nvPr/>
        </p:nvCxnSpPr>
        <p:spPr>
          <a:xfrm flipH="1">
            <a:off x="5556775" y="4504375"/>
            <a:ext cx="751200" cy="21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39"/>
          <p:cNvCxnSpPr/>
          <p:nvPr/>
        </p:nvCxnSpPr>
        <p:spPr>
          <a:xfrm flipH="1">
            <a:off x="7662800" y="2159625"/>
            <a:ext cx="1019700" cy="1247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" name="Google Shape;306;p39"/>
          <p:cNvSpPr txBox="1"/>
          <p:nvPr/>
        </p:nvSpPr>
        <p:spPr>
          <a:xfrm>
            <a:off x="6573875" y="1534725"/>
            <a:ext cx="5521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 Factory method:</a:t>
            </a:r>
            <a:r>
              <a:rPr b="1"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create_product()</a:t>
            </a:r>
            <a:endParaRPr b="1"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9"/>
          <p:cNvSpPr txBox="1"/>
          <p:nvPr/>
        </p:nvSpPr>
        <p:spPr>
          <a:xfrm>
            <a:off x="6419550" y="5777975"/>
            <a:ext cx="5769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Implements Factory method:</a:t>
            </a:r>
            <a:r>
              <a:rPr b="1" i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create_product()</a:t>
            </a:r>
            <a:endParaRPr b="1"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39"/>
          <p:cNvCxnSpPr/>
          <p:nvPr/>
        </p:nvCxnSpPr>
        <p:spPr>
          <a:xfrm rot="10800000">
            <a:off x="7477950" y="4817425"/>
            <a:ext cx="1291500" cy="1113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314" name="Google Shape;314;p40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Intent</a:t>
            </a:r>
            <a:r>
              <a:rPr lang="en"/>
              <a:t>: Define an interface for creating an object, but let subclasses decide which class to instantiate.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Motivation</a:t>
            </a:r>
            <a:r>
              <a:rPr lang="en"/>
              <a:t>:</a:t>
            </a:r>
            <a:endParaRPr/>
          </a:p>
          <a:p>
            <a:pPr indent="-349250" lvl="0" marL="457200" rtl="0" algn="l">
              <a:spcBef>
                <a:spcPts val="110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 class cannot anticipate the class of objects it must create (e.g., a framework only knows abstract classes).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A class wants its subclasses to specify the objects it creates.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/>
              <a:t>Classes delegate responsibility to one of several helper subclasses, and we want to localize the knowledge of which helper is the delegate.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</a:t>
            </a:r>
            <a:endParaRPr/>
          </a:p>
        </p:txBody>
      </p:sp>
      <p:sp>
        <p:nvSpPr>
          <p:cNvPr id="320" name="Google Shape;320;p41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/>
              <a:t>Participants:</a:t>
            </a:r>
            <a:endParaRPr b="1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Product</a:t>
            </a:r>
            <a:r>
              <a:rPr lang="en"/>
              <a:t> (e.g., Document)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Defines the interface of the objects the factory method creates.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ConcreteProduct</a:t>
            </a:r>
            <a:r>
              <a:rPr lang="en"/>
              <a:t> (e.g., MyDocument)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Implements the Product interface.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Creator</a:t>
            </a:r>
            <a:r>
              <a:rPr lang="en"/>
              <a:t> (e.g., Application)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   – Declares the factory method, which returns an object of type Product. May call the factory method to create a Product object.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ConcreteCreator</a:t>
            </a:r>
            <a:r>
              <a:rPr lang="en"/>
              <a:t> (e.g., MyApplication)</a:t>
            </a:r>
            <a:endParaRPr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/>
              <a:t>    – Overrides the factory method to return an instance of a ConcreteProduct.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2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</a:t>
            </a:r>
            <a:endParaRPr/>
          </a:p>
        </p:txBody>
      </p:sp>
      <p:pic>
        <p:nvPicPr>
          <p:cNvPr id="326" name="Google Shape;326;p42"/>
          <p:cNvPicPr preferRelativeResize="0"/>
          <p:nvPr/>
        </p:nvPicPr>
        <p:blipFill rotWithShape="1">
          <a:blip r:embed="rId3">
            <a:alphaModFix/>
          </a:blip>
          <a:srcRect b="0" l="0" r="15782" t="0"/>
          <a:stretch/>
        </p:blipFill>
        <p:spPr>
          <a:xfrm>
            <a:off x="2096075" y="2121400"/>
            <a:ext cx="7996800" cy="400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 (Python)</a:t>
            </a:r>
            <a:endParaRPr/>
          </a:p>
        </p:txBody>
      </p:sp>
      <p:sp>
        <p:nvSpPr>
          <p:cNvPr id="332" name="Google Shape;332;p43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from abc import ABC, 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Product(ABC):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 pass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ConcreteProduct(Product):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print("ConcreteProduct operation")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Creator(ABC):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create_product(self): pass   # the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operation(self):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 = self.create_product()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product.operation()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ConcreteCreator(Creator):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create_product(self):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ConcreteProduct()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 (Python)</a:t>
            </a:r>
            <a:endParaRPr/>
          </a:p>
        </p:txBody>
      </p:sp>
      <p:sp>
        <p:nvSpPr>
          <p:cNvPr id="338" name="Google Shape;338;p44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if __name__ == "__main__":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Client code works through the Creator interface;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the concrete subclass decides which Product is built.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creator = ConcreteCreator()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creator.operation()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</a:t>
            </a:r>
            <a:endParaRPr/>
          </a:p>
        </p:txBody>
      </p:sp>
      <p:sp>
        <p:nvSpPr>
          <p:cNvPr id="344" name="Google Shape;344;p45"/>
          <p:cNvSpPr txBox="1"/>
          <p:nvPr>
            <p:ph idx="1" type="body"/>
          </p:nvPr>
        </p:nvSpPr>
        <p:spPr>
          <a:xfrm>
            <a:off x="838000" y="1825625"/>
            <a:ext cx="5256600" cy="334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abstract class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abstract void open();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DrawingDocument extends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open()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TextDocument extends Document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	public void open() {/* ... */}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45" name="Google Shape;345;p45"/>
          <p:cNvSpPr txBox="1"/>
          <p:nvPr>
            <p:ph idx="1" type="body"/>
          </p:nvPr>
        </p:nvSpPr>
        <p:spPr>
          <a:xfrm>
            <a:off x="6094600" y="1825625"/>
            <a:ext cx="5256600" cy="334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class Application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public void newDocument() {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// Document is abstract - cannot instantiate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// Hard-coding a subclass locks us in.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Document doc = new DrawingDocument();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doc.open();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Ubuntu Mono"/>
                <a:ea typeface="Ubuntu Mono"/>
                <a:cs typeface="Ubuntu Mono"/>
                <a:sym typeface="Ubuntu Mono"/>
              </a:rPr>
              <a:t>// violates DRY Principle.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46" name="Google Shape;346;p45"/>
          <p:cNvSpPr txBox="1"/>
          <p:nvPr>
            <p:ph idx="1" type="body"/>
          </p:nvPr>
        </p:nvSpPr>
        <p:spPr>
          <a:xfrm>
            <a:off x="838000" y="5172525"/>
            <a:ext cx="10512900" cy="100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knows WHEN a document should be created, not WHAT KIND. </a:t>
            </a:r>
            <a:r>
              <a:rPr lang="en" u="sng">
                <a:solidFill>
                  <a:srgbClr val="FF0000"/>
                </a:solidFill>
              </a:rPr>
              <a:t>Hard-coding the subclass is not a scalable solution.</a:t>
            </a:r>
            <a:endParaRPr u="sng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6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 (Python)</a:t>
            </a:r>
            <a:endParaRPr/>
          </a:p>
        </p:txBody>
      </p:sp>
      <p:sp>
        <p:nvSpPr>
          <p:cNvPr id="352" name="Google Shape;352;p46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OUTPUT=&gt;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ConcreteProduct operation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7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 (Python)</a:t>
            </a:r>
            <a:endParaRPr/>
          </a:p>
        </p:txBody>
      </p:sp>
      <p:sp>
        <p:nvSpPr>
          <p:cNvPr id="358" name="Google Shape;358;p47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from abc import ABC, 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Document(ABC):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pass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DrawingDocument(Document):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print("Opening drawing document")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TextDocument(Document):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open(self): print("Opening text document")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Application(ABC):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@abstractmethod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create_document(self): pass   #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new_document(self):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 = self.create_document()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doc.open()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class DrawingApplication(Application):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def create_document(self):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DrawingDocument()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8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 (Python)</a:t>
            </a:r>
            <a:endParaRPr/>
          </a:p>
        </p:txBody>
      </p:sp>
      <p:sp>
        <p:nvSpPr>
          <p:cNvPr id="364" name="Google Shape;364;p48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if __name__ == "__main__":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app = DrawingApplication()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app.new_document()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Application never referenced DrawingDocument directly.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Swapping to a TextApplication subclass would change the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# product with no edits inside Application.new_document.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9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 (Java)</a:t>
            </a:r>
            <a:endParaRPr/>
          </a:p>
        </p:txBody>
      </p:sp>
      <p:sp>
        <p:nvSpPr>
          <p:cNvPr id="370" name="Google Shape;370;p49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Product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void operation();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ConcreteProduct extends Product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operation()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System.out.println("ConcreteProduct operation");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Creator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Product createProduct();   //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operation()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Product p = createProduct();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p.operation();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ConcreteCreator extends Creator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Product createProduct()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new ConcreteProduct();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0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Structure (Java)</a:t>
            </a:r>
            <a:endParaRPr/>
          </a:p>
        </p:txBody>
      </p:sp>
      <p:sp>
        <p:nvSpPr>
          <p:cNvPr id="376" name="Google Shape;376;p50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Creator creator = new ConcreteCreator();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creator.operation();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1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 (Java)</a:t>
            </a:r>
            <a:endParaRPr/>
          </a:p>
        </p:txBody>
      </p:sp>
      <p:sp>
        <p:nvSpPr>
          <p:cNvPr id="382" name="Google Shape;382;p51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Document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void open();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DrawingDocument extends Document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open() { /* ... */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abstract class Application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abstract Document createDocument(); // factory method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void newDocument()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Document doc = createDocument();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doc.open();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public class DrawingApplication extends Application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public Document createDocument() {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    return new DrawingDocument();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2"/>
          <p:cNvSpPr txBox="1"/>
          <p:nvPr>
            <p:ph type="title"/>
          </p:nvPr>
        </p:nvSpPr>
        <p:spPr>
          <a:xfrm>
            <a:off x="837990" y="365125"/>
            <a:ext cx="10512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Pattern - Example (Java)</a:t>
            </a:r>
            <a:endParaRPr/>
          </a:p>
        </p:txBody>
      </p:sp>
      <p:sp>
        <p:nvSpPr>
          <p:cNvPr id="388" name="Google Shape;388;p52"/>
          <p:cNvSpPr txBox="1"/>
          <p:nvPr>
            <p:ph idx="1" type="body"/>
          </p:nvPr>
        </p:nvSpPr>
        <p:spPr>
          <a:xfrm>
            <a:off x="837990" y="1825625"/>
            <a:ext cx="1051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public class Main {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public static void main(String[] args) {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    Application app = new DrawingApplication();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    app.newDocument();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    }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1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/>
          <p:nvPr>
            <p:ph type="title"/>
          </p:nvPr>
        </p:nvSpPr>
        <p:spPr>
          <a:xfrm>
            <a:off x="831642" y="1709738"/>
            <a:ext cx="10512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