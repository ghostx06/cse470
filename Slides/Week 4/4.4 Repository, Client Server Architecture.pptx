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exend-regular.fntdata"/><Relationship Id="rId25" Type="http://schemas.openxmlformats.org/officeDocument/2006/relationships/slide" Target="slides/slide21.xml"/><Relationship Id="rId27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4a710a4e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4a710a4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4a710a4e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4a710a4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4a710a4e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4a710a4e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4a710a4e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4a710a4e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4a710a4e6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4a710a4e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4a710a4e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4a710a4e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4a710a4e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4a710a4e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4a710a4e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4a710a4e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fb76e03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fb76e033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fb4e7e8f5_4_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g3efb4e7e8f5_4_1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fb4e7e8f5_4_1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fb4e7e8f5_4_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efb4e7e8f5_4_4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fb4e7e8f5_4_4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fb4e7e8f5_4_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efb4e7e8f5_4_8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efb4e7e8f5_4_8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fb4e7e8f5_4_1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efb4e7e8f5_4_12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fb4e7e8f5_4_12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fb4e7e8f5_4_1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g3efb4e7e8f5_4_15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fb4e7e8f5_4_15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fb4e7e8f5_4_2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efb4e7e8f5_4_20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efb4e7e8f5_4_20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fb4e7e8f5_4_2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g3efb4e7e8f5_4_24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fb4e7e8f5_4_24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fb76e033a_0_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g3efb76e033a_0_6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fb76e033a_0_6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4a710a4e6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94a710a4e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94a710a4e6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94a710a4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94a710a4e6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94a710a4e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Repository, Client Server </a:t>
            </a:r>
            <a:r>
              <a:rPr lang="en-US" sz="3300"/>
              <a:t>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a Repository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Before going into repository design pattern let's first understand what is repository:</a:t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 generic terms repository simply means a place where things are or can be stored.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This term has wide array of use in computer science for example code repository.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We are all familiar with GITHUB. it’s a code repository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a Repository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/>
              <a:t>It will have multiple sub systems.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/>
              <a:t>Sub-systems must exchange data. This may be done in two ways:</a:t>
            </a:r>
            <a:endParaRPr sz="24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○"/>
            </a:pPr>
            <a:r>
              <a:rPr lang="en-US" sz="2300"/>
              <a:t>Shared data is held in a central database or repository and may be accessed by all sub-systems;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○"/>
            </a:pPr>
            <a:r>
              <a:rPr lang="en-US" sz="2300"/>
              <a:t>Each sub-system maintains its own database and passes data explicitly to other sub-systems.</a:t>
            </a:r>
            <a:endParaRPr sz="2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400"/>
              <a:t>When large amounts of data are to be shared, the repository model of sharing is most commonly used as this is an efficient data sharing mechanism.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400"/>
              <a:t> 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Formal 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Definition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 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A Repository mediates between the domain and data mapping layers, acting like an in-memory domain object collection. </a:t>
            </a:r>
            <a:r>
              <a:rPr lang="en-US" sz="2400"/>
              <a:t>Client objects construct query specifications declaratively and submit them to Repository for satisfaction. Objects can be added to and removed from the Repository, as they can from a simple collection of objects, and the mapping code encapsulated by the Repository will carry out the appropriate operations behind the scenes.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838200" y="1825625"/>
            <a:ext cx="65814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Let's think you are developing an IDE like ’eclipse’.What will you have there: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editor for different language like java,c++.python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code generator, auto complete system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UML editor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Translator to compile the code etc.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000"/>
              <a:t>So here in the IDE where the components use a repository of system design information.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000"/>
              <a:t>Each software tool generates information which is then available for use by other tools.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000"/>
              <a:t>And, sub-components do not communicate with each other, means they are independent.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000"/>
              <a:t>Have a look at the figure for the example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6.9 RepositoryIDE.eps" id="90" name="Google Shape;90;p19"/>
          <p:cNvPicPr preferRelativeResize="0"/>
          <p:nvPr/>
        </p:nvPicPr>
        <p:blipFill rotWithShape="1">
          <a:blip r:embed="rId3">
            <a:alphaModFix/>
          </a:blip>
          <a:srcRect b="-12282" l="0" r="0" t="-12282"/>
          <a:stretch/>
        </p:blipFill>
        <p:spPr>
          <a:xfrm>
            <a:off x="7419600" y="2629488"/>
            <a:ext cx="4310824" cy="274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838200" y="18391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You should use this pattern when you have a system in which large volumes of information are generated that has to be stored for a long time. You may also use it in </a:t>
            </a:r>
            <a:r>
              <a:rPr b="1" lang="en-US"/>
              <a:t>data-driven systems</a:t>
            </a:r>
            <a:r>
              <a:rPr lang="en-US"/>
              <a:t> where the inclusion of data in the repository triggers an action or tool.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Advantages-Disadvantages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Advantages</a:t>
            </a:r>
            <a:endParaRPr b="1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Components can be independent—they do not need to know of the existence of other components.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Changes made by one component can be propagated to all components.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All data can be managed consistently (e.g., backups done at the same time) as it is all in one place.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Data security is of higher importance.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/>
              <a:t>Disadvantages</a:t>
            </a:r>
            <a:endParaRPr b="1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repository is a single point of failure so problems in the repository affect the whole system.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May be inefficiencies in organizing all communication through the repository – latency and processing overhead.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Distributing the repository across several computers may be difficult. (Scalability issue, can be solved by synchronizing tools, but, complex and costly.)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Client-Server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This pattern consists of two parties; </a:t>
            </a:r>
            <a:r>
              <a:rPr b="1" lang="en-US" sz="2500"/>
              <a:t>a server and multiple clients</a:t>
            </a:r>
            <a:r>
              <a:rPr lang="en-US" sz="2500"/>
              <a:t>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The server component will provide services to multiple client components.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Clients request services from the server and the server provides relevant services to those clients.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 Furthermore, the server continues to listen to client requests.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Set of stand-alone servers which provide specific services such as printing, data management, etc.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Set of clients which call on these services.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Network which allows clients to access servers.</a:t>
            </a:r>
            <a:endParaRPr sz="2500"/>
          </a:p>
        </p:txBody>
      </p:sp>
      <p:pic>
        <p:nvPicPr>
          <p:cNvPr id="109" name="Google Shape;1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3150" y="4174501"/>
            <a:ext cx="3505525" cy="23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/>
          <p:cNvPicPr preferRelativeResize="0"/>
          <p:nvPr/>
        </p:nvPicPr>
        <p:blipFill rotWithShape="1">
          <a:blip r:embed="rId4">
            <a:alphaModFix/>
          </a:blip>
          <a:srcRect b="-2630" l="0" r="0" t="2630"/>
          <a:stretch/>
        </p:blipFill>
        <p:spPr>
          <a:xfrm>
            <a:off x="4844673" y="4981200"/>
            <a:ext cx="1616950" cy="18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838200" y="1825625"/>
            <a:ext cx="10515600" cy="116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Online applications such as email, document sharing and banking.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Figure  is an example of a film and video/DVD library organized as a client–server system.</a:t>
            </a:r>
            <a:endParaRPr sz="2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6.11 ClientServerFilmPhoto.eps" id="117" name="Google Shape;117;p23"/>
          <p:cNvPicPr preferRelativeResize="0"/>
          <p:nvPr/>
        </p:nvPicPr>
        <p:blipFill rotWithShape="1">
          <a:blip r:embed="rId3">
            <a:alphaModFix/>
          </a:blip>
          <a:srcRect b="0" l="-1062" r="-1062" t="0"/>
          <a:stretch/>
        </p:blipFill>
        <p:spPr>
          <a:xfrm>
            <a:off x="3076888" y="2922350"/>
            <a:ext cx="6038226" cy="358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6150" y="523150"/>
            <a:ext cx="224790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Client-Server Architecture</a:t>
            </a:r>
            <a:endParaRPr sz="4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Student Record Request Flow</a:t>
            </a:r>
            <a:endParaRPr sz="3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300"/>
          </a:p>
        </p:txBody>
      </p:sp>
      <p:sp>
        <p:nvSpPr>
          <p:cNvPr id="125" name="Google Shape;125;p24"/>
          <p:cNvSpPr txBox="1"/>
          <p:nvPr/>
        </p:nvSpPr>
        <p:spPr>
          <a:xfrm>
            <a:off x="-256100" y="4439175"/>
            <a:ext cx="1219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→  Server  →  Database  →  Response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1/6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enters student ID in the browser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2649375" y="262128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7221375" y="262128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5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/>
          <p:nvPr/>
        </p:nvSpPr>
        <p:spPr>
          <a:xfrm>
            <a:off x="454815" y="1728216"/>
            <a:ext cx="2438400" cy="1072896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/>
          <p:nvPr/>
        </p:nvSpPr>
        <p:spPr>
          <a:xfrm>
            <a:off x="552351" y="1801368"/>
            <a:ext cx="2243328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Student lookup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552351" y="2093976"/>
            <a:ext cx="1560576" cy="341376"/>
          </a:xfrm>
          <a:prstGeom prst="roundRect">
            <a:avLst>
              <a:gd fmla="val 21429" name="adj"/>
            </a:avLst>
          </a:prstGeom>
          <a:solidFill>
            <a:srgbClr val="F0F4F8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/>
          <p:nvPr/>
        </p:nvSpPr>
        <p:spPr>
          <a:xfrm>
            <a:off x="576735" y="2093976"/>
            <a:ext cx="1511808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2021-CSE-047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2186079" y="2093976"/>
            <a:ext cx="609600" cy="341376"/>
          </a:xfrm>
          <a:prstGeom prst="roundRect">
            <a:avLst>
              <a:gd fmla="val 21429" name="adj"/>
            </a:avLst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/>
          <p:nvPr/>
        </p:nvSpPr>
        <p:spPr>
          <a:xfrm>
            <a:off x="2186079" y="2093976"/>
            <a:ext cx="6096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25"/>
          <p:cNvCxnSpPr/>
          <p:nvPr/>
        </p:nvCxnSpPr>
        <p:spPr>
          <a:xfrm>
            <a:off x="1552095" y="2804160"/>
            <a:ext cx="12192" cy="243840"/>
          </a:xfrm>
          <a:prstGeom prst="straightConnector1">
            <a:avLst/>
          </a:prstGeom>
          <a:noFill/>
          <a:ln cap="flat" cmpd="sng" w="15225">
            <a:solidFill>
              <a:srgbClr val="0B6047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p25"/>
          <p:cNvCxnSpPr/>
          <p:nvPr/>
        </p:nvCxnSpPr>
        <p:spPr>
          <a:xfrm>
            <a:off x="2649375" y="377952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1" name="Google Shape;151;p25"/>
          <p:cNvCxnSpPr/>
          <p:nvPr/>
        </p:nvCxnSpPr>
        <p:spPr>
          <a:xfrm>
            <a:off x="7221375" y="377952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25"/>
          <p:cNvSpPr/>
          <p:nvPr/>
        </p:nvSpPr>
        <p:spPr>
          <a:xfrm>
            <a:off x="454815" y="304800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2540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454815" y="326745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454815" y="377952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5026815" y="2804160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/>
          <p:nvPr/>
        </p:nvSpPr>
        <p:spPr>
          <a:xfrm>
            <a:off x="5026815" y="302361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5026815" y="353568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9598815" y="304800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9598815" y="326745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9598815" y="377952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463296" y="5785104"/>
            <a:ext cx="11338560" cy="804672"/>
          </a:xfrm>
          <a:prstGeom prst="roundRect">
            <a:avLst>
              <a:gd fmla="val 18182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646176" y="5870448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646176" y="6199632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0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560A8"/>
                </a:solidFill>
                <a:latin typeface="Calibri"/>
                <a:ea typeface="Calibri"/>
                <a:cs typeface="Calibri"/>
                <a:sym typeface="Calibri"/>
              </a:rPr>
              <a:t>→ REQUEST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User typed "2021-CSE-047" and clicked Send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2/6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sends HTTP request to server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2621280" y="2089072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7205472" y="2089072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26"/>
          <p:cNvCxnSpPr/>
          <p:nvPr/>
        </p:nvCxnSpPr>
        <p:spPr>
          <a:xfrm>
            <a:off x="7193280" y="3691525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2" name="Google Shape;182;p26"/>
          <p:cNvCxnSpPr/>
          <p:nvPr/>
        </p:nvCxnSpPr>
        <p:spPr>
          <a:xfrm>
            <a:off x="2621280" y="3691525"/>
            <a:ext cx="2377440" cy="12192"/>
          </a:xfrm>
          <a:prstGeom prst="straightConnector1">
            <a:avLst/>
          </a:prstGeom>
          <a:noFill/>
          <a:ln cap="flat" cmpd="sng" w="27925">
            <a:solidFill>
              <a:srgbClr val="1560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26"/>
          <p:cNvSpPr/>
          <p:nvPr/>
        </p:nvSpPr>
        <p:spPr>
          <a:xfrm>
            <a:off x="1767840" y="2450989"/>
            <a:ext cx="3169920" cy="438912"/>
          </a:xfrm>
          <a:prstGeom prst="roundRect">
            <a:avLst>
              <a:gd fmla="val 50000" name="adj"/>
            </a:avLst>
          </a:prstGeom>
          <a:solidFill>
            <a:srgbClr val="1560A8"/>
          </a:solidFill>
          <a:ln cap="flat" cmpd="sng" w="12700">
            <a:solidFill>
              <a:srgbClr val="1560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1840992" y="2450989"/>
            <a:ext cx="3023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/student?id=2021-CSE-047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3724656" y="3606181"/>
            <a:ext cx="170688" cy="170688"/>
          </a:xfrm>
          <a:prstGeom prst="ellipse">
            <a:avLst/>
          </a:prstGeom>
          <a:solidFill>
            <a:srgbClr val="1560A8"/>
          </a:solidFill>
          <a:ln cap="flat" cmpd="sng" w="12700">
            <a:solidFill>
              <a:srgbClr val="1560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"/>
          <p:cNvSpPr/>
          <p:nvPr/>
        </p:nvSpPr>
        <p:spPr>
          <a:xfrm>
            <a:off x="426720" y="2960005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2540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426720" y="3179461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426720" y="3691525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4998720" y="2716165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4998720" y="2935621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4998720" y="3447685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9570720" y="2960005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9570720" y="3179461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9570720" y="3691525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426720" y="5441077"/>
            <a:ext cx="11338560" cy="1170432"/>
          </a:xfrm>
          <a:prstGeom prst="roundRect">
            <a:avLst>
              <a:gd fmla="val 12500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6"/>
          <p:cNvSpPr/>
          <p:nvPr/>
        </p:nvSpPr>
        <p:spPr>
          <a:xfrm>
            <a:off x="609600" y="5526421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609600" y="5855605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0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560A8"/>
                </a:solidFill>
                <a:latin typeface="Calibri"/>
                <a:ea typeface="Calibri"/>
                <a:cs typeface="Calibri"/>
                <a:sym typeface="Calibri"/>
              </a:rPr>
              <a:t>→ REQUEST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GET /api/student?id=2021-CSE-047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609600" y="6196981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0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560A8"/>
                </a:solidFill>
                <a:latin typeface="Calibri"/>
                <a:ea typeface="Calibri"/>
                <a:cs typeface="Calibri"/>
                <a:sym typeface="Calibri"/>
              </a:rPr>
              <a:t>→ REQUEST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Headers: Authorization: Bearer &lt;JWT&gt;, Content-Type: application/json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7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3/6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authenticates token and routes request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7193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7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7"/>
          <p:cNvCxnSpPr/>
          <p:nvPr/>
        </p:nvCxnSpPr>
        <p:spPr>
          <a:xfrm>
            <a:off x="7193280" y="3048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p27"/>
          <p:cNvSpPr/>
          <p:nvPr/>
        </p:nvSpPr>
        <p:spPr>
          <a:xfrm>
            <a:off x="5754624" y="2706624"/>
            <a:ext cx="682752" cy="682752"/>
          </a:xfrm>
          <a:prstGeom prst="ellipse">
            <a:avLst/>
          </a:prstGeom>
          <a:solidFill>
            <a:srgbClr val="4A42B0">
              <a:alpha val="7843"/>
            </a:srgbClr>
          </a:solidFill>
          <a:ln cap="flat" cmpd="sng" w="9525">
            <a:solidFill>
              <a:srgbClr val="4A42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7"/>
          <p:cNvSpPr/>
          <p:nvPr/>
        </p:nvSpPr>
        <p:spPr>
          <a:xfrm>
            <a:off x="5583936" y="2535936"/>
            <a:ext cx="1024128" cy="1024128"/>
          </a:xfrm>
          <a:prstGeom prst="ellipse">
            <a:avLst/>
          </a:prstGeom>
          <a:solidFill>
            <a:srgbClr val="4A42B0">
              <a:alpha val="7843"/>
            </a:srgbClr>
          </a:solidFill>
          <a:ln cap="flat" cmpd="sng" w="9525">
            <a:solidFill>
              <a:srgbClr val="4A42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7"/>
          <p:cNvSpPr/>
          <p:nvPr/>
        </p:nvSpPr>
        <p:spPr>
          <a:xfrm>
            <a:off x="426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1905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7"/>
          <p:cNvSpPr/>
          <p:nvPr/>
        </p:nvSpPr>
        <p:spPr>
          <a:xfrm>
            <a:off x="426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426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2231136" y="238963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4998720" y="2072640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2540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7"/>
          <p:cNvSpPr/>
          <p:nvPr/>
        </p:nvSpPr>
        <p:spPr>
          <a:xfrm>
            <a:off x="4998720" y="229209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4998720" y="280416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9570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9570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9570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5096256" y="4120896"/>
            <a:ext cx="1999488" cy="292608"/>
          </a:xfrm>
          <a:prstGeom prst="roundRect">
            <a:avLst>
              <a:gd fmla="val 25000" name="adj"/>
            </a:avLst>
          </a:prstGeom>
          <a:solidFill>
            <a:srgbClr val="E8E6FE"/>
          </a:solidFill>
          <a:ln cap="flat" cmpd="sng" w="9525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5120640" y="4120896"/>
            <a:ext cx="195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1. Verify JWT token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5096256" y="5212345"/>
            <a:ext cx="1999488" cy="292608"/>
          </a:xfrm>
          <a:prstGeom prst="roundRect">
            <a:avLst>
              <a:gd fmla="val 25000" name="adj"/>
            </a:avLst>
          </a:prstGeom>
          <a:solidFill>
            <a:srgbClr val="E8E6FE"/>
          </a:solidFill>
          <a:ln cap="flat" cmpd="sng" w="9525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5120640" y="5212345"/>
            <a:ext cx="195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2. Check permissions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5096256" y="5578105"/>
            <a:ext cx="1999488" cy="292608"/>
          </a:xfrm>
          <a:prstGeom prst="roundRect">
            <a:avLst>
              <a:gd fmla="val 25000" name="adj"/>
            </a:avLst>
          </a:prstGeom>
          <a:solidFill>
            <a:srgbClr val="E8E6FE"/>
          </a:solidFill>
          <a:ln cap="flat" cmpd="sng" w="9525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>
            <a:off x="5120640" y="5578105"/>
            <a:ext cx="195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3. Route → StudentController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426720" y="5114809"/>
            <a:ext cx="11338560" cy="1536192"/>
          </a:xfrm>
          <a:prstGeom prst="roundRect">
            <a:avLst>
              <a:gd fmla="val 9524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609600" y="5200153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609600" y="5529337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0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560A8"/>
                </a:solidFill>
                <a:latin typeface="Calibri"/>
                <a:ea typeface="Calibri"/>
                <a:cs typeface="Calibri"/>
                <a:sym typeface="Calibri"/>
              </a:rPr>
              <a:t>→ REQUEST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GET /api/student?id=2021-CSE-047  received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609600" y="5870713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⚙ SERVER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JWT verified — user: admin@bracu.ac.bd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609600" y="6212089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⚙ SERVER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Routing to StudentController.getRecord()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4/6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queries the database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7193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28"/>
          <p:cNvCxnSpPr/>
          <p:nvPr/>
        </p:nvCxnSpPr>
        <p:spPr>
          <a:xfrm>
            <a:off x="2621280" y="373075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8" name="Google Shape;258;p28"/>
          <p:cNvCxnSpPr/>
          <p:nvPr/>
        </p:nvCxnSpPr>
        <p:spPr>
          <a:xfrm>
            <a:off x="7193280" y="3730752"/>
            <a:ext cx="2377440" cy="12192"/>
          </a:xfrm>
          <a:prstGeom prst="straightConnector1">
            <a:avLst/>
          </a:prstGeom>
          <a:noFill/>
          <a:ln cap="flat" cmpd="sng" w="27925">
            <a:solidFill>
              <a:srgbClr val="8A52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28"/>
          <p:cNvSpPr/>
          <p:nvPr/>
        </p:nvSpPr>
        <p:spPr>
          <a:xfrm>
            <a:off x="7120128" y="2303493"/>
            <a:ext cx="3169920" cy="438912"/>
          </a:xfrm>
          <a:prstGeom prst="roundRect">
            <a:avLst>
              <a:gd fmla="val 50000" name="adj"/>
            </a:avLst>
          </a:prstGeom>
          <a:solidFill>
            <a:srgbClr val="8A5200"/>
          </a:solidFill>
          <a:ln cap="flat" cmpd="sng" w="12700">
            <a:solidFill>
              <a:srgbClr val="8A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8"/>
          <p:cNvSpPr/>
          <p:nvPr/>
        </p:nvSpPr>
        <p:spPr>
          <a:xfrm>
            <a:off x="7193280" y="2316480"/>
            <a:ext cx="3023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 * WHERE id='2021-CSE-047'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8296656" y="3645408"/>
            <a:ext cx="170688" cy="170688"/>
          </a:xfrm>
          <a:prstGeom prst="ellipse">
            <a:avLst/>
          </a:prstGeom>
          <a:solidFill>
            <a:srgbClr val="8A5200"/>
          </a:solidFill>
          <a:ln cap="flat" cmpd="sng" w="12700">
            <a:solidFill>
              <a:srgbClr val="8A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8"/>
          <p:cNvSpPr/>
          <p:nvPr/>
        </p:nvSpPr>
        <p:spPr>
          <a:xfrm>
            <a:off x="426720" y="2999232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1905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426720" y="3218688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426720" y="3730752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2231136" y="3072384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4998720" y="2755392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2540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/>
          <p:nvPr/>
        </p:nvSpPr>
        <p:spPr>
          <a:xfrm>
            <a:off x="4998720" y="2974848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4998720" y="3486912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9570720" y="2999232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9570720" y="3218688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9570720" y="3730752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426720" y="5035296"/>
            <a:ext cx="11338560" cy="1536192"/>
          </a:xfrm>
          <a:prstGeom prst="roundRect">
            <a:avLst>
              <a:gd fmla="val 9524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609600" y="5120640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609600" y="5449824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⚙ SERVER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Building SQL query…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609600" y="5791200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A5200"/>
                </a:solidFill>
                <a:latin typeface="Calibri"/>
                <a:ea typeface="Calibri"/>
                <a:cs typeface="Calibri"/>
                <a:sym typeface="Calibri"/>
              </a:rPr>
              <a:t>⬡ DB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SELECT * FROM students WHERE student_id = '2021-CSE-047'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609600" y="6132576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A5200"/>
                </a:solidFill>
                <a:latin typeface="Calibri"/>
                <a:ea typeface="Calibri"/>
                <a:cs typeface="Calibri"/>
                <a:sym typeface="Calibri"/>
              </a:rPr>
              <a:t>⬡ DB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Query dispatched over internal network (not exposed to internet)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5/6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returns the student record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7217664" y="1901952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29"/>
          <p:cNvCxnSpPr/>
          <p:nvPr/>
        </p:nvCxnSpPr>
        <p:spPr>
          <a:xfrm>
            <a:off x="2633472" y="3621553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5" name="Google Shape;295;p29"/>
          <p:cNvSpPr/>
          <p:nvPr/>
        </p:nvSpPr>
        <p:spPr>
          <a:xfrm>
            <a:off x="10411968" y="3353329"/>
            <a:ext cx="536448" cy="536448"/>
          </a:xfrm>
          <a:prstGeom prst="ellipse">
            <a:avLst/>
          </a:prstGeom>
          <a:solidFill>
            <a:srgbClr val="7A4800">
              <a:alpha val="10196"/>
            </a:srgbClr>
          </a:solidFill>
          <a:ln cap="flat" cmpd="sng" w="9525">
            <a:solidFill>
              <a:srgbClr val="7A48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10277856" y="3219217"/>
            <a:ext cx="804672" cy="804672"/>
          </a:xfrm>
          <a:prstGeom prst="ellipse">
            <a:avLst/>
          </a:prstGeom>
          <a:solidFill>
            <a:srgbClr val="7A4800">
              <a:alpha val="10196"/>
            </a:srgbClr>
          </a:solidFill>
          <a:ln cap="flat" cmpd="sng" w="9525">
            <a:solidFill>
              <a:srgbClr val="7A48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/>
          <p:nvPr/>
        </p:nvSpPr>
        <p:spPr>
          <a:xfrm>
            <a:off x="10143744" y="3085105"/>
            <a:ext cx="1072896" cy="1072896"/>
          </a:xfrm>
          <a:prstGeom prst="ellipse">
            <a:avLst/>
          </a:prstGeom>
          <a:solidFill>
            <a:srgbClr val="7A4800">
              <a:alpha val="10196"/>
            </a:srgbClr>
          </a:solidFill>
          <a:ln cap="flat" cmpd="sng" w="9525">
            <a:solidFill>
              <a:srgbClr val="7A48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8" name="Google Shape;298;p29"/>
          <p:cNvCxnSpPr/>
          <p:nvPr/>
        </p:nvCxnSpPr>
        <p:spPr>
          <a:xfrm>
            <a:off x="7205472" y="3621553"/>
            <a:ext cx="2377440" cy="12192"/>
          </a:xfrm>
          <a:prstGeom prst="straightConnector1">
            <a:avLst/>
          </a:prstGeom>
          <a:noFill/>
          <a:ln cap="flat" cmpd="sng" w="27925">
            <a:solidFill>
              <a:srgbClr val="8A52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29"/>
          <p:cNvSpPr/>
          <p:nvPr/>
        </p:nvSpPr>
        <p:spPr>
          <a:xfrm>
            <a:off x="7193811" y="2313299"/>
            <a:ext cx="3169920" cy="438912"/>
          </a:xfrm>
          <a:prstGeom prst="roundRect">
            <a:avLst>
              <a:gd fmla="val 50000" name="adj"/>
            </a:avLst>
          </a:prstGeom>
          <a:solidFill>
            <a:srgbClr val="8A5200"/>
          </a:solidFill>
          <a:ln cap="flat" cmpd="sng" w="12700">
            <a:solidFill>
              <a:srgbClr val="8A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7322092" y="2299517"/>
            <a:ext cx="3023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 name, cgpa, credits, semester… 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8308848" y="3536209"/>
            <a:ext cx="170688" cy="170688"/>
          </a:xfrm>
          <a:prstGeom prst="ellipse">
            <a:avLst/>
          </a:prstGeom>
          <a:solidFill>
            <a:srgbClr val="8A5200"/>
          </a:solidFill>
          <a:ln cap="flat" cmpd="sng" w="12700">
            <a:solidFill>
              <a:srgbClr val="8A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9"/>
          <p:cNvSpPr/>
          <p:nvPr/>
        </p:nvSpPr>
        <p:spPr>
          <a:xfrm>
            <a:off x="438912" y="2890033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1905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"/>
          <p:cNvSpPr/>
          <p:nvPr/>
        </p:nvSpPr>
        <p:spPr>
          <a:xfrm>
            <a:off x="438912" y="3109489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438912" y="3621553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2243328" y="2963185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5010912" y="2646193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1905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"/>
          <p:cNvSpPr/>
          <p:nvPr/>
        </p:nvSpPr>
        <p:spPr>
          <a:xfrm>
            <a:off x="5010912" y="2865649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5010912" y="3377713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6815328" y="2719345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9582912" y="2890033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DE8C0"/>
          </a:solidFill>
          <a:ln cap="flat" cmpd="sng" w="2540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/>
          <p:nvPr/>
        </p:nvSpPr>
        <p:spPr>
          <a:xfrm>
            <a:off x="9582912" y="3109489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E00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4E2E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9582912" y="3621553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9351264" y="4564579"/>
            <a:ext cx="2414016" cy="652272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9448800" y="4613347"/>
            <a:ext cx="2316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Result set  (1 row)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9473184" y="4905955"/>
            <a:ext cx="67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10143744" y="4905955"/>
            <a:ext cx="158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Rafiul Hasan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9595104" y="5492496"/>
            <a:ext cx="67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dept: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10265664" y="5492496"/>
            <a:ext cx="158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9595104" y="5736336"/>
            <a:ext cx="67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cgpa: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10265664" y="5736336"/>
            <a:ext cx="158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3.72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9595104" y="5980176"/>
            <a:ext cx="67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credits: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10265664" y="5980176"/>
            <a:ext cx="158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426720" y="5419344"/>
            <a:ext cx="11338560" cy="1170432"/>
          </a:xfrm>
          <a:prstGeom prst="roundRect">
            <a:avLst>
              <a:gd fmla="val 12500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9"/>
          <p:cNvSpPr/>
          <p:nvPr/>
        </p:nvSpPr>
        <p:spPr>
          <a:xfrm>
            <a:off x="609600" y="5504688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609600" y="5833872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A5200"/>
                </a:solidFill>
                <a:latin typeface="Calibri"/>
                <a:ea typeface="Calibri"/>
                <a:cs typeface="Calibri"/>
                <a:sym typeface="Calibri"/>
              </a:rPr>
              <a:t>⬡ DB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Query executed in 4ms — 1 row returned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609600" y="6175248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A5200"/>
                </a:solidFill>
                <a:latin typeface="Calibri"/>
                <a:ea typeface="Calibri"/>
                <a:cs typeface="Calibri"/>
                <a:sym typeface="Calibri"/>
              </a:rPr>
              <a:t>⬡ DB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{ name: "Rafiul Hasan", cgpa: 3.72, credits: 120, semester: "8th" 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6/6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delivers HTTP 200 response to browser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7193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0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" name="Google Shape;344;p30"/>
          <p:cNvCxnSpPr/>
          <p:nvPr/>
        </p:nvCxnSpPr>
        <p:spPr>
          <a:xfrm>
            <a:off x="7193280" y="3048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2621280" y="3048000"/>
            <a:ext cx="2377440" cy="12192"/>
          </a:xfrm>
          <a:prstGeom prst="straightConnector1">
            <a:avLst/>
          </a:prstGeom>
          <a:noFill/>
          <a:ln cap="flat" cmpd="sng" w="27925">
            <a:solidFill>
              <a:srgbClr val="0B6E4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30"/>
          <p:cNvSpPr/>
          <p:nvPr/>
        </p:nvSpPr>
        <p:spPr>
          <a:xfrm>
            <a:off x="2225040" y="2243328"/>
            <a:ext cx="3169920" cy="438912"/>
          </a:xfrm>
          <a:prstGeom prst="roundRect">
            <a:avLst>
              <a:gd fmla="val 50000" name="adj"/>
            </a:avLst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0"/>
          <p:cNvSpPr/>
          <p:nvPr/>
        </p:nvSpPr>
        <p:spPr>
          <a:xfrm>
            <a:off x="2298192" y="2243328"/>
            <a:ext cx="3023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 OK  { student record 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3724656" y="2962656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0"/>
          <p:cNvSpPr/>
          <p:nvPr/>
        </p:nvSpPr>
        <p:spPr>
          <a:xfrm>
            <a:off x="426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2540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426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426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4998720" y="2072640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1905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0"/>
          <p:cNvSpPr/>
          <p:nvPr/>
        </p:nvSpPr>
        <p:spPr>
          <a:xfrm>
            <a:off x="4998720" y="229209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4998720" y="280416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6803136" y="214579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9570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DE8C0"/>
          </a:solidFill>
          <a:ln cap="flat" cmpd="sng" w="1905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0"/>
          <p:cNvSpPr/>
          <p:nvPr/>
        </p:nvSpPr>
        <p:spPr>
          <a:xfrm>
            <a:off x="9570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E00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4E2E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9570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11375136" y="238963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26720" y="4389120"/>
            <a:ext cx="11338560" cy="1170432"/>
          </a:xfrm>
          <a:prstGeom prst="roundRect">
            <a:avLst>
              <a:gd fmla="val 12500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"/>
          <p:cNvSpPr/>
          <p:nvPr/>
        </p:nvSpPr>
        <p:spPr>
          <a:xfrm>
            <a:off x="609600" y="4474464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609600" y="4803648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⚙ SERVER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Serialising JSON — filtering sensitive fields, setting cache headers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609600" y="5145024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✓ RESPONSE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200 OK — Content-Type: application/json — payload: 842 bytes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1"/>
          <p:cNvSpPr/>
          <p:nvPr/>
        </p:nvSpPr>
        <p:spPr>
          <a:xfrm>
            <a:off x="426720" y="121920"/>
            <a:ext cx="11338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 rendered — student record displayed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7193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31"/>
          <p:cNvCxnSpPr/>
          <p:nvPr/>
        </p:nvCxnSpPr>
        <p:spPr>
          <a:xfrm>
            <a:off x="2621280" y="3048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4" name="Google Shape;374;p31"/>
          <p:cNvCxnSpPr/>
          <p:nvPr/>
        </p:nvCxnSpPr>
        <p:spPr>
          <a:xfrm>
            <a:off x="7193280" y="3048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5" name="Google Shape;375;p31"/>
          <p:cNvSpPr/>
          <p:nvPr/>
        </p:nvSpPr>
        <p:spPr>
          <a:xfrm>
            <a:off x="426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1905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1"/>
          <p:cNvSpPr/>
          <p:nvPr/>
        </p:nvSpPr>
        <p:spPr>
          <a:xfrm>
            <a:off x="426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426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2231136" y="238963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4998720" y="2072640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1905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1"/>
          <p:cNvSpPr/>
          <p:nvPr/>
        </p:nvSpPr>
        <p:spPr>
          <a:xfrm>
            <a:off x="4998720" y="229209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4998720" y="280416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6803136" y="214579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9570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DE8C0"/>
          </a:solidFill>
          <a:ln cap="flat" cmpd="sng" w="1905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1"/>
          <p:cNvSpPr/>
          <p:nvPr/>
        </p:nvSpPr>
        <p:spPr>
          <a:xfrm>
            <a:off x="9570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E00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4E2E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9570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11375136" y="238963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4693920" y="1560576"/>
            <a:ext cx="7071360" cy="353568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1"/>
          <p:cNvSpPr/>
          <p:nvPr/>
        </p:nvSpPr>
        <p:spPr>
          <a:xfrm>
            <a:off x="4693920" y="1560576"/>
            <a:ext cx="7071360" cy="1097280"/>
          </a:xfrm>
          <a:prstGeom prst="roundRect">
            <a:avLst>
              <a:gd fmla="val 16667" name="adj"/>
            </a:avLst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1"/>
          <p:cNvSpPr/>
          <p:nvPr/>
        </p:nvSpPr>
        <p:spPr>
          <a:xfrm>
            <a:off x="4693920" y="2292096"/>
            <a:ext cx="7071360" cy="365760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4913376" y="1755648"/>
            <a:ext cx="731520" cy="73152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1"/>
          <p:cNvSpPr/>
          <p:nvPr/>
        </p:nvSpPr>
        <p:spPr>
          <a:xfrm>
            <a:off x="4913376" y="175564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RH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5791200" y="1755648"/>
            <a:ext cx="548640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Rafiul Hasan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5791200" y="2218944"/>
            <a:ext cx="54864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F0E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8F0E0"/>
                </a:solidFill>
                <a:latin typeface="Calibri"/>
                <a:ea typeface="Calibri"/>
                <a:cs typeface="Calibri"/>
                <a:sym typeface="Calibri"/>
              </a:rPr>
              <a:t>2021-CSE-047  ·  Computer Science &amp; Engineering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4913376" y="2755392"/>
            <a:ext cx="3023616" cy="829056"/>
          </a:xfrm>
          <a:prstGeom prst="roundRect">
            <a:avLst>
              <a:gd fmla="val 13235" name="adj"/>
            </a:avLst>
          </a:prstGeom>
          <a:solidFill>
            <a:srgbClr val="F5F7FA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5035296" y="2828544"/>
            <a:ext cx="2779776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CGPA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5035296" y="3121152"/>
            <a:ext cx="27797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3.72 / 4.00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1"/>
          <p:cNvSpPr/>
          <p:nvPr/>
        </p:nvSpPr>
        <p:spPr>
          <a:xfrm>
            <a:off x="8229600" y="2755392"/>
            <a:ext cx="3023616" cy="829056"/>
          </a:xfrm>
          <a:prstGeom prst="roundRect">
            <a:avLst>
              <a:gd fmla="val 13235" name="adj"/>
            </a:avLst>
          </a:prstGeom>
          <a:solidFill>
            <a:srgbClr val="F5F7FA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1"/>
          <p:cNvSpPr/>
          <p:nvPr/>
        </p:nvSpPr>
        <p:spPr>
          <a:xfrm>
            <a:off x="8351520" y="2828544"/>
            <a:ext cx="2779776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CREDITS EARNED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1"/>
          <p:cNvSpPr/>
          <p:nvPr/>
        </p:nvSpPr>
        <p:spPr>
          <a:xfrm>
            <a:off x="8351520" y="3121152"/>
            <a:ext cx="27797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4913376" y="3755136"/>
            <a:ext cx="3023616" cy="829056"/>
          </a:xfrm>
          <a:prstGeom prst="roundRect">
            <a:avLst>
              <a:gd fmla="val 13235" name="adj"/>
            </a:avLst>
          </a:prstGeom>
          <a:solidFill>
            <a:srgbClr val="F5F7FA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1"/>
          <p:cNvSpPr/>
          <p:nvPr/>
        </p:nvSpPr>
        <p:spPr>
          <a:xfrm>
            <a:off x="5035296" y="3828288"/>
            <a:ext cx="2779776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CURRENT SEMESTER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/>
          <p:nvPr/>
        </p:nvSpPr>
        <p:spPr>
          <a:xfrm>
            <a:off x="5035296" y="4120896"/>
            <a:ext cx="27797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8th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8229600" y="3755136"/>
            <a:ext cx="3023616" cy="829056"/>
          </a:xfrm>
          <a:prstGeom prst="roundRect">
            <a:avLst>
              <a:gd fmla="val 13235" name="adj"/>
            </a:avLst>
          </a:prstGeom>
          <a:solidFill>
            <a:srgbClr val="F5F7FA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1"/>
          <p:cNvSpPr/>
          <p:nvPr/>
        </p:nvSpPr>
        <p:spPr>
          <a:xfrm>
            <a:off x="8351520" y="3828288"/>
            <a:ext cx="2779776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1"/>
          <p:cNvSpPr/>
          <p:nvPr/>
        </p:nvSpPr>
        <p:spPr>
          <a:xfrm>
            <a:off x="8351520" y="4120896"/>
            <a:ext cx="27797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/>
          <p:nvPr/>
        </p:nvSpPr>
        <p:spPr>
          <a:xfrm>
            <a:off x="426720" y="5315712"/>
            <a:ext cx="11338560" cy="1170432"/>
          </a:xfrm>
          <a:prstGeom prst="roundRect">
            <a:avLst>
              <a:gd fmla="val 12500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1"/>
          <p:cNvSpPr/>
          <p:nvPr/>
        </p:nvSpPr>
        <p:spPr>
          <a:xfrm>
            <a:off x="609600" y="5401056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609600" y="5730240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✓ RESPONSE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200 OK  —  Student record received and rendered in 187ms total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609600" y="6071616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✓ RESPONSE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Browser updated — student dashboard now showing Rafiul Hasan's record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"/>
          <p:cNvSpPr/>
          <p:nvPr/>
        </p:nvSpPr>
        <p:spPr>
          <a:xfrm>
            <a:off x="0" y="0"/>
            <a:ext cx="12192000" cy="14631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2"/>
          <p:cNvSpPr/>
          <p:nvPr/>
        </p:nvSpPr>
        <p:spPr>
          <a:xfrm>
            <a:off x="426720" y="121920"/>
            <a:ext cx="11338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request lifecycle</a:t>
            </a:r>
            <a:endParaRPr b="1"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335285" y="1856326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8" name="Google Shape;418;p32"/>
          <p:cNvSpPr/>
          <p:nvPr/>
        </p:nvSpPr>
        <p:spPr>
          <a:xfrm>
            <a:off x="505973" y="2087974"/>
            <a:ext cx="707100" cy="707100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505973" y="2087974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1383797" y="1856326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enters student ID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335285" y="3343750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1560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505973" y="3575398"/>
            <a:ext cx="707100" cy="707100"/>
          </a:xfrm>
          <a:prstGeom prst="ellipse">
            <a:avLst/>
          </a:prstGeom>
          <a:solidFill>
            <a:srgbClr val="1560A8"/>
          </a:solidFill>
          <a:ln cap="flat" cmpd="sng" w="12700">
            <a:solidFill>
              <a:srgbClr val="1560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505973" y="3575398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1383797" y="3343750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 sends HTTP request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335285" y="4831174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505973" y="5062822"/>
            <a:ext cx="707100" cy="707100"/>
          </a:xfrm>
          <a:prstGeom prst="ellipse">
            <a:avLst/>
          </a:prstGeom>
          <a:solidFill>
            <a:srgbClr val="4A42B0"/>
          </a:solidFill>
          <a:ln cap="flat" cmpd="sng" w="1270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505973" y="5062822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1383797" y="4831174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authenticates &amp; routes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6309365" y="1856326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6480053" y="2087974"/>
            <a:ext cx="707100" cy="707100"/>
          </a:xfrm>
          <a:prstGeom prst="ellipse">
            <a:avLst/>
          </a:prstGeom>
          <a:solidFill>
            <a:srgbClr val="7A4800"/>
          </a:solidFill>
          <a:ln cap="flat" cmpd="sng" w="1270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6480053" y="2087974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7357877" y="1856326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queries the database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6309365" y="3343750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6480053" y="3575398"/>
            <a:ext cx="707100" cy="707100"/>
          </a:xfrm>
          <a:prstGeom prst="ellipse">
            <a:avLst/>
          </a:prstGeom>
          <a:solidFill>
            <a:srgbClr val="7A4800"/>
          </a:solidFill>
          <a:ln cap="flat" cmpd="sng" w="1270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6480053" y="3575398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7357877" y="3343750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returns student record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2"/>
          <p:cNvSpPr/>
          <p:nvPr/>
        </p:nvSpPr>
        <p:spPr>
          <a:xfrm>
            <a:off x="6309365" y="4831174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6480053" y="5062822"/>
            <a:ext cx="707100" cy="707100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9" name="Google Shape;439;p32"/>
          <p:cNvSpPr/>
          <p:nvPr/>
        </p:nvSpPr>
        <p:spPr>
          <a:xfrm>
            <a:off x="6480053" y="5062822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2"/>
          <p:cNvSpPr/>
          <p:nvPr/>
        </p:nvSpPr>
        <p:spPr>
          <a:xfrm>
            <a:off x="7357877" y="4831174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 OK response to browser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used when data in a shared database has to be accessed from a range of locations. Because servers can be replicated, may also be used when the load on a system is variable and can be resolved by a load balancer.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The principal advantage of this model is that servers can be distributed across a network.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Data recovery is possible.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Can be deployed to the cloud, hosted and managed by third-parties (AWS, Azure) which offloads physical infrastructure burden and easy to manage.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5"/>
          <p:cNvSpPr txBox="1"/>
          <p:nvPr>
            <p:ph idx="1" type="body"/>
          </p:nvPr>
        </p:nvSpPr>
        <p:spPr>
          <a:xfrm>
            <a:off x="838200" y="1825625"/>
            <a:ext cx="10968000" cy="481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Each service is a single point of failure so susceptible to denial of service (DoS) attacks or server failure.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Performance may be unpredictable because it depends on the network as well as the system.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Cost inefficient as requires maintenance cost.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May be management problems if servers are owned by different organizations.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