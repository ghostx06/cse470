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embeddedFontLst>
    <p:embeddedFont>
      <p:font typeface="Nunito"/>
      <p:regular r:id="rId13"/>
      <p:bold r:id="rId14"/>
      <p:italic r:id="rId15"/>
      <p:boldItalic r:id="rId16"/>
    </p:embeddedFont>
    <p:embeddedFont>
      <p:font typeface="Lexend"/>
      <p:regular r:id="rId17"/>
      <p:bold r:id="rId18"/>
    </p:embeddedFont>
    <p:embeddedFont>
      <p:font typeface="Gill Sans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illSans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Nunito-regular.fnt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Nunito-italic.fntdata"/><Relationship Id="rId14" Type="http://schemas.openxmlformats.org/officeDocument/2006/relationships/font" Target="fonts/Nunito-bold.fntdata"/><Relationship Id="rId17" Type="http://schemas.openxmlformats.org/officeDocument/2006/relationships/font" Target="fonts/Lexend-regular.fntdata"/><Relationship Id="rId16" Type="http://schemas.openxmlformats.org/officeDocument/2006/relationships/font" Target="fonts/Nunito-boldItalic.fntdata"/><Relationship Id="rId5" Type="http://schemas.openxmlformats.org/officeDocument/2006/relationships/slide" Target="slides/slide1.xml"/><Relationship Id="rId19" Type="http://schemas.openxmlformats.org/officeDocument/2006/relationships/font" Target="fonts/GillSans-regular.fntdata"/><Relationship Id="rId6" Type="http://schemas.openxmlformats.org/officeDocument/2006/relationships/slide" Target="slides/slide2.xml"/><Relationship Id="rId18" Type="http://schemas.openxmlformats.org/officeDocument/2006/relationships/font" Target="fonts/Lexend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74cfe3e43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874cfe3e4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8e3762e4c8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8e3762e4c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874cfe3e43_1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874cfe3e43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8e371599e1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8e371599e1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8e371599e1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8e371599e1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8e371599e1_0_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8e371599e1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8e371599e1_0_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8e371599e1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" name="Google Shape;35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5" name="Google Shape;45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7" name="Google Shape;5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5" name="Google Shape;65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2" name="Google Shape;72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8" name="Google Shape;78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9" name="Google Shape;79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2" name="Google Shape;82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9" name="Google Shape;8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2" name="Google Shape;92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1" name="Google Shape;10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0" name="Google Shape;110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700">
                <a:latin typeface="Arial"/>
                <a:ea typeface="Arial"/>
                <a:cs typeface="Arial"/>
                <a:sym typeface="Arial"/>
              </a:rPr>
              <a:t>CSE470: Software Engineering</a:t>
            </a:r>
            <a:endParaRPr/>
          </a:p>
        </p:txBody>
      </p:sp>
      <p:sp>
        <p:nvSpPr>
          <p:cNvPr id="118" name="Google Shape;118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3500"/>
              <a:t>V </a:t>
            </a:r>
            <a:r>
              <a:rPr lang="en-US" sz="3500"/>
              <a:t>Model</a:t>
            </a:r>
            <a:endParaRPr sz="35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35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3500"/>
              <a:t>SDLC</a:t>
            </a:r>
            <a:endParaRPr sz="3500"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3500"/>
              <a:t>(Software Development Life Cycle)</a:t>
            </a:r>
            <a:endParaRPr b="1" sz="3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What is a V Model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" name="Google Shape;124;p1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V-Model is a variation of the Waterfall Model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V-model depicts the relationship of quality assurance actions to the actions associated with communication, modeling, and early construction activities.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It is an extension of the Waterfall model that provides earlier and detailed Software Testing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Steps of</a:t>
            </a: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 a V Model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0" name="Google Shape;130;p15"/>
          <p:cNvCxnSpPr/>
          <p:nvPr/>
        </p:nvCxnSpPr>
        <p:spPr>
          <a:xfrm>
            <a:off x="3381074" y="1761066"/>
            <a:ext cx="2229000" cy="4338000"/>
          </a:xfrm>
          <a:prstGeom prst="straightConnector1">
            <a:avLst/>
          </a:prstGeom>
          <a:noFill/>
          <a:ln cap="flat" cmpd="sng" w="134925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31" name="Google Shape;131;p15"/>
          <p:cNvCxnSpPr/>
          <p:nvPr/>
        </p:nvCxnSpPr>
        <p:spPr>
          <a:xfrm flipH="1" rot="10800000">
            <a:off x="6969116" y="1690825"/>
            <a:ext cx="1998600" cy="4408200"/>
          </a:xfrm>
          <a:prstGeom prst="straightConnector1">
            <a:avLst/>
          </a:prstGeom>
          <a:noFill/>
          <a:ln cap="flat" cmpd="sng" w="118575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32" name="Google Shape;132;p15"/>
          <p:cNvSpPr/>
          <p:nvPr/>
        </p:nvSpPr>
        <p:spPr>
          <a:xfrm>
            <a:off x="1951479" y="1761066"/>
            <a:ext cx="3035700" cy="494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24525">
            <a:solidFill>
              <a:srgbClr val="788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850" lIns="117750" spcFirstLastPara="1" rIns="117750" wrap="square" tIns="58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61"/>
              <a:buFont typeface="Arial"/>
              <a:buNone/>
            </a:pPr>
            <a:r>
              <a:rPr b="1" i="0" lang="en-US" sz="2061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Requirement Analysis</a:t>
            </a:r>
            <a:endParaRPr b="1" i="0" sz="2061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7360232" y="1761066"/>
            <a:ext cx="2880300" cy="494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24525">
            <a:solidFill>
              <a:srgbClr val="788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850" lIns="117750" spcFirstLastPara="1" rIns="117750" wrap="square" tIns="58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61"/>
              <a:buFont typeface="Arial"/>
              <a:buNone/>
            </a:pPr>
            <a:r>
              <a:rPr b="1" i="0" lang="en-US" sz="2061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Acceptance  Testing</a:t>
            </a:r>
            <a:endParaRPr b="1" i="0" sz="2061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2563620" y="2714969"/>
            <a:ext cx="2880300" cy="494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24525">
            <a:solidFill>
              <a:srgbClr val="788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850" lIns="117750" spcFirstLastPara="1" rIns="117750" wrap="square" tIns="58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61"/>
              <a:buFont typeface="Arial"/>
              <a:buNone/>
            </a:pPr>
            <a:r>
              <a:rPr b="1" i="0" lang="en-US" sz="2061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Architecture Design</a:t>
            </a:r>
            <a:endParaRPr b="1" i="0" sz="2061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5" name="Google Shape;135;p15"/>
          <p:cNvSpPr/>
          <p:nvPr/>
        </p:nvSpPr>
        <p:spPr>
          <a:xfrm>
            <a:off x="7360232" y="2714969"/>
            <a:ext cx="2257200" cy="494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24525">
            <a:solidFill>
              <a:srgbClr val="788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850" lIns="117750" spcFirstLastPara="1" rIns="117750" wrap="square" tIns="58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61"/>
              <a:buFont typeface="Arial"/>
              <a:buNone/>
            </a:pPr>
            <a:r>
              <a:rPr b="1" i="0" lang="en-US" sz="2061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System  Testing</a:t>
            </a:r>
            <a:endParaRPr b="1" i="0" sz="2061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6" name="Google Shape;136;p15"/>
          <p:cNvSpPr/>
          <p:nvPr/>
        </p:nvSpPr>
        <p:spPr>
          <a:xfrm>
            <a:off x="2160462" y="3668872"/>
            <a:ext cx="3686700" cy="494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24525">
            <a:solidFill>
              <a:srgbClr val="788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850" lIns="117750" spcFirstLastPara="1" rIns="117750" wrap="square" tIns="58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61"/>
              <a:buFont typeface="Arial"/>
              <a:buNone/>
            </a:pPr>
            <a:r>
              <a:rPr b="1" i="0" lang="en-US" sz="2061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Component/Module Design</a:t>
            </a:r>
            <a:endParaRPr b="1" i="0" sz="2061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7" name="Google Shape;137;p15"/>
          <p:cNvSpPr/>
          <p:nvPr/>
        </p:nvSpPr>
        <p:spPr>
          <a:xfrm>
            <a:off x="7214738" y="3682780"/>
            <a:ext cx="2786100" cy="494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24525">
            <a:solidFill>
              <a:srgbClr val="788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850" lIns="117750" spcFirstLastPara="1" rIns="117750" wrap="square" tIns="58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61"/>
              <a:buFont typeface="Arial"/>
              <a:buNone/>
            </a:pPr>
            <a:r>
              <a:rPr b="1" i="0" lang="en-US" sz="2061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Integration Testing</a:t>
            </a:r>
            <a:endParaRPr b="1" i="0" sz="2061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3312303" y="4525897"/>
            <a:ext cx="2366400" cy="494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24525">
            <a:solidFill>
              <a:srgbClr val="788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850" lIns="117750" spcFirstLastPara="1" rIns="117750" wrap="square" tIns="58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61"/>
              <a:buFont typeface="Arial"/>
              <a:buNone/>
            </a:pPr>
            <a:r>
              <a:rPr b="1" i="0" lang="en-US" sz="2061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Code Generation</a:t>
            </a:r>
            <a:endParaRPr b="1" i="0" sz="2061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6918117" y="4525897"/>
            <a:ext cx="2100600" cy="4944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 cap="flat" cmpd="sng" w="24525">
            <a:solidFill>
              <a:srgbClr val="788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850" lIns="117750" spcFirstLastPara="1" rIns="117750" wrap="square" tIns="58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61"/>
              <a:buFont typeface="Arial"/>
              <a:buNone/>
            </a:pPr>
            <a:r>
              <a:rPr b="1" i="0" lang="en-US" sz="2061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Unit Testing</a:t>
            </a:r>
            <a:endParaRPr b="1" i="0" sz="2061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140" name="Google Shape;140;p15"/>
          <p:cNvCxnSpPr>
            <a:stCxn id="132" idx="3"/>
            <a:endCxn id="133" idx="1"/>
          </p:cNvCxnSpPr>
          <p:nvPr/>
        </p:nvCxnSpPr>
        <p:spPr>
          <a:xfrm>
            <a:off x="4987179" y="2008266"/>
            <a:ext cx="2373000" cy="0"/>
          </a:xfrm>
          <a:prstGeom prst="straightConnector1">
            <a:avLst/>
          </a:prstGeom>
          <a:noFill/>
          <a:ln cap="flat" cmpd="sng" w="49075">
            <a:solidFill>
              <a:srgbClr val="000000"/>
            </a:solidFill>
            <a:prstDash val="dash"/>
            <a:round/>
            <a:headEnd len="med" w="med" type="stealth"/>
            <a:tailEnd len="med" w="med" type="stealth"/>
          </a:ln>
        </p:spPr>
      </p:cxnSp>
      <p:cxnSp>
        <p:nvCxnSpPr>
          <p:cNvPr id="141" name="Google Shape;141;p15"/>
          <p:cNvCxnSpPr>
            <a:stCxn id="134" idx="3"/>
            <a:endCxn id="135" idx="1"/>
          </p:cNvCxnSpPr>
          <p:nvPr/>
        </p:nvCxnSpPr>
        <p:spPr>
          <a:xfrm>
            <a:off x="5443920" y="2962169"/>
            <a:ext cx="1916400" cy="0"/>
          </a:xfrm>
          <a:prstGeom prst="straightConnector1">
            <a:avLst/>
          </a:prstGeom>
          <a:noFill/>
          <a:ln cap="flat" cmpd="sng" w="49075">
            <a:solidFill>
              <a:srgbClr val="000000"/>
            </a:solidFill>
            <a:prstDash val="dash"/>
            <a:round/>
            <a:headEnd len="med" w="med" type="stealth"/>
            <a:tailEnd len="med" w="med" type="stealth"/>
          </a:ln>
        </p:spPr>
      </p:cxnSp>
      <p:cxnSp>
        <p:nvCxnSpPr>
          <p:cNvPr id="142" name="Google Shape;142;p15"/>
          <p:cNvCxnSpPr>
            <a:stCxn id="136" idx="3"/>
            <a:endCxn id="137" idx="1"/>
          </p:cNvCxnSpPr>
          <p:nvPr/>
        </p:nvCxnSpPr>
        <p:spPr>
          <a:xfrm>
            <a:off x="5847162" y="3916072"/>
            <a:ext cx="1367700" cy="13800"/>
          </a:xfrm>
          <a:prstGeom prst="straightConnector1">
            <a:avLst/>
          </a:prstGeom>
          <a:noFill/>
          <a:ln cap="flat" cmpd="sng" w="49075">
            <a:solidFill>
              <a:srgbClr val="000000"/>
            </a:solidFill>
            <a:prstDash val="dash"/>
            <a:round/>
            <a:headEnd len="med" w="med" type="stealth"/>
            <a:tailEnd len="med" w="med" type="stealth"/>
          </a:ln>
        </p:spPr>
      </p:cxnSp>
      <p:cxnSp>
        <p:nvCxnSpPr>
          <p:cNvPr id="143" name="Google Shape;143;p15"/>
          <p:cNvCxnSpPr>
            <a:stCxn id="138" idx="3"/>
            <a:endCxn id="139" idx="1"/>
          </p:cNvCxnSpPr>
          <p:nvPr/>
        </p:nvCxnSpPr>
        <p:spPr>
          <a:xfrm>
            <a:off x="5678703" y="4773097"/>
            <a:ext cx="1239300" cy="0"/>
          </a:xfrm>
          <a:prstGeom prst="straightConnector1">
            <a:avLst/>
          </a:prstGeom>
          <a:noFill/>
          <a:ln cap="flat" cmpd="sng" w="49075">
            <a:solidFill>
              <a:srgbClr val="000000"/>
            </a:solidFill>
            <a:prstDash val="dash"/>
            <a:round/>
            <a:headEnd len="med" w="med" type="stealth"/>
            <a:tailEnd len="med" w="med" type="stealth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Verification - Validation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6"/>
          <p:cNvSpPr txBox="1"/>
          <p:nvPr>
            <p:ph idx="1" type="body"/>
          </p:nvPr>
        </p:nvSpPr>
        <p:spPr>
          <a:xfrm>
            <a:off x="838200" y="1825625"/>
            <a:ext cx="46803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Building the product in the right way is called “</a:t>
            </a:r>
            <a:r>
              <a:rPr b="1" lang="en-US"/>
              <a:t>Verification</a:t>
            </a:r>
            <a:r>
              <a:rPr lang="en-US"/>
              <a:t>”.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Building the right product is called “</a:t>
            </a:r>
            <a:r>
              <a:rPr b="1" lang="en-US"/>
              <a:t>Validation</a:t>
            </a:r>
            <a:r>
              <a:rPr lang="en-US"/>
              <a:t>”.</a:t>
            </a:r>
            <a:endParaRPr/>
          </a:p>
        </p:txBody>
      </p:sp>
      <p:cxnSp>
        <p:nvCxnSpPr>
          <p:cNvPr id="150" name="Google Shape;150;p16"/>
          <p:cNvCxnSpPr/>
          <p:nvPr/>
        </p:nvCxnSpPr>
        <p:spPr>
          <a:xfrm>
            <a:off x="7153812" y="1948663"/>
            <a:ext cx="1866300" cy="3998400"/>
          </a:xfrm>
          <a:prstGeom prst="straightConnector1">
            <a:avLst/>
          </a:prstGeom>
          <a:noFill/>
          <a:ln cap="flat" cmpd="sng" w="162775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51" name="Google Shape;151;p16"/>
          <p:cNvCxnSpPr/>
          <p:nvPr/>
        </p:nvCxnSpPr>
        <p:spPr>
          <a:xfrm flipH="1" rot="10800000">
            <a:off x="9137161" y="1690728"/>
            <a:ext cx="1750200" cy="4256400"/>
          </a:xfrm>
          <a:prstGeom prst="straightConnector1">
            <a:avLst/>
          </a:prstGeom>
          <a:noFill/>
          <a:ln cap="flat" cmpd="sng" w="143050">
            <a:solidFill>
              <a:srgbClr val="00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52" name="Google Shape;152;p16"/>
          <p:cNvSpPr txBox="1"/>
          <p:nvPr/>
        </p:nvSpPr>
        <p:spPr>
          <a:xfrm rot="3881119">
            <a:off x="6035916" y="3586296"/>
            <a:ext cx="3037259" cy="597852"/>
          </a:xfrm>
          <a:prstGeom prst="rect">
            <a:avLst/>
          </a:prstGeom>
          <a:noFill/>
          <a:ln>
            <a:noFill/>
          </a:ln>
        </p:spPr>
        <p:txBody>
          <a:bodyPr anchorCtr="0" anchor="t" bIns="71000" lIns="142050" spcFirstLastPara="1" rIns="142050" wrap="square" tIns="71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2"/>
              <a:buFont typeface="Arial"/>
              <a:buNone/>
            </a:pPr>
            <a:r>
              <a:rPr b="1" i="0" lang="en-US" sz="2952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Verification</a:t>
            </a:r>
            <a:endParaRPr b="1" i="0" sz="2952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3" name="Google Shape;153;p16"/>
          <p:cNvSpPr txBox="1"/>
          <p:nvPr/>
        </p:nvSpPr>
        <p:spPr>
          <a:xfrm rot="-4083535">
            <a:off x="8913266" y="3864965"/>
            <a:ext cx="2719368" cy="597868"/>
          </a:xfrm>
          <a:prstGeom prst="rect">
            <a:avLst/>
          </a:prstGeom>
          <a:noFill/>
          <a:ln>
            <a:noFill/>
          </a:ln>
        </p:spPr>
        <p:txBody>
          <a:bodyPr anchorCtr="0" anchor="t" bIns="71000" lIns="142050" spcFirstLastPara="1" rIns="142050" wrap="square" tIns="71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52"/>
              <a:buFont typeface="Arial"/>
              <a:buNone/>
            </a:pPr>
            <a:r>
              <a:rPr b="1" i="0" lang="en-US" sz="2952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Validation</a:t>
            </a:r>
            <a:endParaRPr b="1" i="0" sz="2952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Advantages of V Model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9" name="Google Shape;159;p1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High importance on Testing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Early Bug Identification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Improved Quality Assurance (QA)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Test activities planned before testing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Saves time over waterfall, higher chance of success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Same advantages as Waterfall Model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Disa</a:t>
            </a: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dvantages of V Model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1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Difficult to incorporate Requirement changes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Workable software at the last step of the model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If a test fails, then the test document and code both needs to be updated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Not suitable for projects with unclear requirements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No step overlapping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When to choose</a:t>
            </a: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 V Model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1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Test heavy development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Char char="•"/>
            </a:pPr>
            <a:r>
              <a:rPr lang="en-US"/>
              <a:t>Projects suitable for Waterfall model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Lexend"/>
                <a:ea typeface="Lexend"/>
                <a:cs typeface="Lexend"/>
                <a:sym typeface="Lexend"/>
              </a:rPr>
              <a:t>References</a:t>
            </a:r>
            <a:endParaRPr b="1"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Roger S Pressman, Roger Pressman,"Software Engineering: A Practitioner's Approach", McGraw-Hill, 7th edition, 2010.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alibri"/>
              <a:buAutoNum type="arabicPeriod"/>
            </a:pPr>
            <a:r>
              <a:rPr lang="en-US"/>
              <a:t>https://www.geeksforgeeks.org/software-engineering-sdlc-v-model/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