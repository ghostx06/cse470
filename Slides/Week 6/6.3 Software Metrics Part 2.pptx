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Lexend Light"/>
      <p:regular r:id="rId13"/>
      <p:bold r:id="rId14"/>
    </p:embeddedFont>
    <p:embeddedFont>
      <p:font typeface="Lexend"/>
      <p:regular r:id="rId15"/>
      <p:bold r:id="rId16"/>
    </p:embeddedFon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LexendLight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exend-regular.fntdata"/><Relationship Id="rId14" Type="http://schemas.openxmlformats.org/officeDocument/2006/relationships/font" Target="fonts/LexendLight-bold.fntdata"/><Relationship Id="rId17" Type="http://schemas.openxmlformats.org/officeDocument/2006/relationships/font" Target="fonts/RobotoMono-regular.fntdata"/><Relationship Id="rId16" Type="http://schemas.openxmlformats.org/officeDocument/2006/relationships/font" Target="fonts/Lexend-bold.fntdata"/><Relationship Id="rId5" Type="http://schemas.openxmlformats.org/officeDocument/2006/relationships/slide" Target="slides/slide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2.xml"/><Relationship Id="rId18" Type="http://schemas.openxmlformats.org/officeDocument/2006/relationships/font" Target="fonts/RobotoMon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0674885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0674885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06748853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06748853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067488539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06748853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067488539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06748853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067488539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06748853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067488539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06748853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067488539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06748853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medium.com/@kapoorjasdeep/fan-out-and-fan-in-the-unsung-heroes-of-system-design-2f8a46933518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Software Metrics Part 2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measurement and metrics</a:t>
            </a:r>
            <a:endParaRPr/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Software measurement is concerned with deriving a numeric value for an attribute of a software product or process.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This allows for objective comparisons between techniques and processes.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Although some companies have introduced measurement programmes, most organisations still don’t make systematic use of software measurement.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There are few established standards in this area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Fan-in/Fan-out, Length of code</a:t>
            </a:r>
            <a:endParaRPr/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5050">
                <a:latin typeface="Lexend"/>
                <a:ea typeface="Lexend"/>
                <a:cs typeface="Lexend"/>
                <a:sym typeface="Lexend"/>
              </a:rPr>
              <a:t>Fan-in/Fan-out</a:t>
            </a:r>
            <a:endParaRPr sz="5050">
              <a:latin typeface="Lexend"/>
              <a:ea typeface="Lexend"/>
              <a:cs typeface="Lexend"/>
              <a:sym typeface="Lexend"/>
            </a:endParaRPr>
          </a:p>
          <a:p>
            <a:pPr indent="-332819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Lexend Light"/>
              <a:buChar char="•"/>
            </a:pPr>
            <a:r>
              <a:rPr lang="en-US" sz="5050">
                <a:latin typeface="Lexend Light"/>
                <a:ea typeface="Lexend Light"/>
                <a:cs typeface="Lexend Light"/>
                <a:sym typeface="Lexend Light"/>
              </a:rPr>
              <a:t>Fan-in is a measure of the number of functions or methods that call another function or method (say X). Fan-out is the number of functions that are called by function X. A high value for fan-in means that X is tightly coupled to the rest of the design and changes to X will have extensive knock-on effects. A high value for fan-out suggests that the overall complexity of X may be high because of the complexity of the control logic needed to coordinate the called components.</a:t>
            </a:r>
            <a:endParaRPr sz="505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3281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Lexend Light"/>
              <a:buChar char="•"/>
            </a:pPr>
            <a:r>
              <a:rPr lang="en-US" sz="5050">
                <a:latin typeface="Lexend Light"/>
                <a:ea typeface="Lexend Light"/>
                <a:cs typeface="Lexend Light"/>
                <a:sym typeface="Lexend Light"/>
              </a:rPr>
              <a:t>Read: </a:t>
            </a:r>
            <a:r>
              <a:rPr lang="en-US" sz="505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3"/>
              </a:rPr>
              <a:t>Medium article</a:t>
            </a:r>
            <a:endParaRPr sz="505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5050">
                <a:latin typeface="Lexend"/>
                <a:ea typeface="Lexend"/>
                <a:cs typeface="Lexend"/>
                <a:sym typeface="Lexend"/>
              </a:rPr>
              <a:t>Length of code</a:t>
            </a:r>
            <a:endParaRPr sz="5050">
              <a:latin typeface="Lexend"/>
              <a:ea typeface="Lexend"/>
              <a:cs typeface="Lexend"/>
              <a:sym typeface="Lexend"/>
            </a:endParaRPr>
          </a:p>
          <a:p>
            <a:pPr indent="-332819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Lexend Light"/>
              <a:buChar char="•"/>
            </a:pPr>
            <a:r>
              <a:rPr lang="en-US" sz="5050">
                <a:latin typeface="Lexend Light"/>
                <a:ea typeface="Lexend Light"/>
                <a:cs typeface="Lexend Light"/>
                <a:sym typeface="Lexend Light"/>
              </a:rPr>
              <a:t>This is a measure of the size of a program. Generally, the larger the size of the code of a component, the more complex and error-prone that component is likely to be. Length of code has been shown to be one of the most reliable metrics for predicting error-proneness in components</a:t>
            </a:r>
            <a:endParaRPr sz="505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Specialization Index (SIX)</a:t>
            </a:r>
            <a:endParaRPr/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The Specialization Index metric measures the extent to which subclasses override their ancestors classes.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This index is the ratio between the number of overridden methods and total number of methods in a Class, weighted by the depth of inheritance for this class.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The metric provides a percentage, where the class contains at least one operation. For a root class, the specialization indicator is 0. Nominal range is between 0 % and 120 %.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Specialization Index (SIX)</a:t>
            </a:r>
            <a:endParaRPr/>
          </a:p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746000" y="18141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457200" lvl="0" marL="1828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NMO X DIT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SIX = 											* 100%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NMO+NMA+NMI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Where,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DIT = </a:t>
            </a: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Depth</a:t>
            </a: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Inheritance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NMO =  Number of Overridden Methods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NMA = Number of Methods added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NMI = Number of Inherited methods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" name="Google Shape;143;p17"/>
          <p:cNvCxnSpPr/>
          <p:nvPr/>
        </p:nvCxnSpPr>
        <p:spPr>
          <a:xfrm flipH="1" rot="10800000">
            <a:off x="2253600" y="2511925"/>
            <a:ext cx="4455000" cy="2700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- Question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717175" y="1690825"/>
            <a:ext cx="3308400" cy="3522600"/>
          </a:xfrm>
          <a:prstGeom prst="roundRect">
            <a:avLst>
              <a:gd fmla="val 6601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Person: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read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7581125" y="1667700"/>
            <a:ext cx="4118400" cy="3522600"/>
          </a:xfrm>
          <a:prstGeom prst="roundRect">
            <a:avLst>
              <a:gd fmla="val 6601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257693"/>
                </a:solidFill>
                <a:latin typeface="Roboto Mono"/>
                <a:ea typeface="Roboto Mono"/>
                <a:cs typeface="Roboto Mono"/>
                <a:sym typeface="Roboto Mono"/>
              </a:rPr>
              <a:t>GradStudent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257693"/>
                </a:solidFill>
                <a:latin typeface="Roboto Mono"/>
                <a:ea typeface="Roboto Mono"/>
                <a:cs typeface="Roboto Mono"/>
                <a:sym typeface="Roboto Mono"/>
              </a:rPr>
              <a:t>Student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read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workStatus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149150" y="1667700"/>
            <a:ext cx="3308400" cy="3522600"/>
          </a:xfrm>
          <a:prstGeom prst="roundRect">
            <a:avLst>
              <a:gd fmla="val 6601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257693"/>
                </a:solidFill>
                <a:latin typeface="Roboto Mono"/>
                <a:ea typeface="Roboto Mono"/>
                <a:cs typeface="Roboto Mono"/>
                <a:sym typeface="Roboto Mono"/>
              </a:rPr>
              <a:t>Student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257693"/>
                </a:solidFill>
                <a:latin typeface="Roboto Mono"/>
                <a:ea typeface="Roboto Mono"/>
                <a:cs typeface="Roboto Mono"/>
                <a:sym typeface="Roboto Mono"/>
              </a:rPr>
              <a:t>Person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read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getAvg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837325" y="5392700"/>
            <a:ext cx="1063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SIX value for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GradStudent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- Solution</a:t>
            </a:r>
            <a:endParaRPr/>
          </a:p>
        </p:txBody>
      </p:sp>
      <p:sp>
        <p:nvSpPr>
          <p:cNvPr id="158" name="Google Shape;158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For GradStudent Class,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DIT = 2 ( GradStudent -&gt; Student -&gt; Person 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NMI = 1 ( getAvg() 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NMA = 1 ( workStatus() 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NMO = 2 ( read(), display() 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SIX = ( 2*2 )/( 1+1+2 ) = 1 * 100% = 100%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Defect Removal Efficiency (DRE)</a:t>
            </a:r>
            <a:endParaRPr/>
          </a:p>
        </p:txBody>
      </p:sp>
      <p:sp>
        <p:nvSpPr>
          <p:cNvPr id="164" name="Google Shape;164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6147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 defect is found when the application does not conform to the requirement specification.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 mistake in coding is called Error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An average DRE score is usually around 85% across a full testing program.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DRE = E / (E + D) where: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182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50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E is the number of errors found before delivery of the software to the end-user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182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50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D is the number of defects found after delivery.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We found 100 defects during the testing phase and then later, say within 90 days after software release (in production), found 5 defects,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DRE = 100/(100+5) = 95.2%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