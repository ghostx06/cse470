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Lexend"/>
      <p:regular r:id="rId16"/>
      <p:bold r:id="rId17"/>
    </p:embeddedFon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exend-bold.fntdata"/><Relationship Id="rId16" Type="http://schemas.openxmlformats.org/officeDocument/2006/relationships/font" Target="fonts/Lexend-regular.fntdata"/><Relationship Id="rId5" Type="http://schemas.openxmlformats.org/officeDocument/2006/relationships/slide" Target="slides/slide1.xml"/><Relationship Id="rId19" Type="http://schemas.openxmlformats.org/officeDocument/2006/relationships/font" Target="fonts/GillSans-bold.fntdata"/><Relationship Id="rId6" Type="http://schemas.openxmlformats.org/officeDocument/2006/relationships/slide" Target="slides/slide2.xml"/><Relationship Id="rId18" Type="http://schemas.openxmlformats.org/officeDocument/2006/relationships/font" Target="fonts/Gill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74cfe3e4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74cfe3e4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e371599e1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e371599e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74cfe3e43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74cfe3e4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e382aa581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e382aa58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ca35d21e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8ca35d21e4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e382aa581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e382aa58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e382aa581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8e382aa58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382aa581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382aa58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ac6f85b09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ac6f85b09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e371599e1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e371599e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500"/>
              <a:t>Incremental and Iterative Model</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Evolutionary Process Model</a:t>
            </a:r>
            <a:endParaRPr b="1" sz="3300">
              <a:latin typeface="Lexend"/>
              <a:ea typeface="Lexend"/>
              <a:cs typeface="Lexend"/>
              <a:sym typeface="Lexend"/>
            </a:endParaRPr>
          </a:p>
        </p:txBody>
      </p:sp>
      <p:sp>
        <p:nvSpPr>
          <p:cNvPr id="124" name="Google Shape;124;p14"/>
          <p:cNvSpPr txBox="1"/>
          <p:nvPr>
            <p:ph idx="1" type="body"/>
          </p:nvPr>
        </p:nvSpPr>
        <p:spPr>
          <a:xfrm>
            <a:off x="838200" y="1690825"/>
            <a:ext cx="7946100" cy="44859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b="1" lang="en-US"/>
              <a:t>Example</a:t>
            </a:r>
            <a:r>
              <a:rPr lang="en-US"/>
              <a:t>: Iterative, Incremental and Spiral model</a:t>
            </a:r>
            <a:endParaRPr/>
          </a:p>
          <a:p>
            <a:pPr indent="-406400" lvl="0" marL="457200" rtl="0" algn="l">
              <a:spcBef>
                <a:spcPts val="0"/>
              </a:spcBef>
              <a:spcAft>
                <a:spcPts val="0"/>
              </a:spcAft>
              <a:buSzPts val="2800"/>
              <a:buFont typeface="Calibri"/>
              <a:buChar char="•"/>
            </a:pPr>
            <a:r>
              <a:rPr lang="en-US"/>
              <a:t>Can change requirements as you want </a:t>
            </a:r>
            <a:endParaRPr/>
          </a:p>
          <a:p>
            <a:pPr indent="-406400" lvl="0" marL="457200" rtl="0" algn="l">
              <a:spcBef>
                <a:spcPts val="0"/>
              </a:spcBef>
              <a:spcAft>
                <a:spcPts val="0"/>
              </a:spcAft>
              <a:buSzPts val="2800"/>
              <a:buFont typeface="Calibri"/>
              <a:buChar char="•"/>
            </a:pPr>
            <a:r>
              <a:rPr lang="en-US"/>
              <a:t>Can go back to previous phases, such as after coding, we can go back to communication phase for requirement collection again.</a:t>
            </a:r>
            <a:endParaRPr/>
          </a:p>
          <a:p>
            <a:pPr indent="-406400" lvl="0" marL="457200" rtl="0" algn="l">
              <a:spcBef>
                <a:spcPts val="0"/>
              </a:spcBef>
              <a:spcAft>
                <a:spcPts val="0"/>
              </a:spcAft>
              <a:buSzPts val="2800"/>
              <a:buFont typeface="Calibri"/>
              <a:buChar char="•"/>
            </a:pPr>
            <a:r>
              <a:rPr b="1" lang="en-US"/>
              <a:t>Advantage</a:t>
            </a:r>
            <a:r>
              <a:rPr lang="en-US"/>
              <a:t>: Customer involvement, taking feedback from the customer during development make it correct, efficient and reliable, building the right product</a:t>
            </a:r>
            <a:endParaRPr/>
          </a:p>
          <a:p>
            <a:pPr indent="-406400" lvl="0" marL="457200" rtl="0" algn="l">
              <a:spcBef>
                <a:spcPts val="0"/>
              </a:spcBef>
              <a:spcAft>
                <a:spcPts val="0"/>
              </a:spcAft>
              <a:buSzPts val="2800"/>
              <a:buFont typeface="Calibri"/>
              <a:buChar char="•"/>
            </a:pPr>
            <a:r>
              <a:rPr b="1" lang="en-US"/>
              <a:t>Disadvantage</a:t>
            </a:r>
            <a:r>
              <a:rPr lang="en-US"/>
              <a:t>: There is a risk of the project expanding beyond its initial scope.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pic>
        <p:nvPicPr>
          <p:cNvPr id="125" name="Google Shape;125;p14" title="prototyping-model.jpg"/>
          <p:cNvPicPr preferRelativeResize="0"/>
          <p:nvPr/>
        </p:nvPicPr>
        <p:blipFill>
          <a:blip r:embed="rId3">
            <a:alphaModFix/>
          </a:blip>
          <a:stretch>
            <a:fillRect/>
          </a:stretch>
        </p:blipFill>
        <p:spPr>
          <a:xfrm>
            <a:off x="8784300" y="1817725"/>
            <a:ext cx="3252775" cy="3222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Incremental Model</a:t>
            </a:r>
            <a:endParaRPr b="1" sz="3300">
              <a:latin typeface="Lexend"/>
              <a:ea typeface="Lexend"/>
              <a:cs typeface="Lexend"/>
              <a:sym typeface="Lexend"/>
            </a:endParaRPr>
          </a:p>
        </p:txBody>
      </p:sp>
      <p:sp>
        <p:nvSpPr>
          <p:cNvPr id="131" name="Google Shape;131;p15"/>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A software process model where the software will be delivered in increments</a:t>
            </a:r>
            <a:endParaRPr/>
          </a:p>
          <a:p>
            <a:pPr indent="0" lvl="0" marL="0" rtl="0" algn="l">
              <a:spcBef>
                <a:spcPts val="1000"/>
              </a:spcBef>
              <a:spcAft>
                <a:spcPts val="0"/>
              </a:spcAft>
              <a:buClr>
                <a:schemeClr val="dk1"/>
              </a:buClr>
              <a:buSzPts val="1100"/>
              <a:buFont typeface="Arial"/>
              <a:buNone/>
            </a:pPr>
            <a:r>
              <a:t/>
            </a:r>
            <a:endParaRPr/>
          </a:p>
          <a:p>
            <a:pPr indent="-406400" lvl="0" marL="457200" rtl="0" algn="l">
              <a:spcBef>
                <a:spcPts val="1000"/>
              </a:spcBef>
              <a:spcAft>
                <a:spcPts val="0"/>
              </a:spcAft>
              <a:buSzPts val="2800"/>
              <a:buFont typeface="Calibri"/>
              <a:buChar char="•"/>
            </a:pPr>
            <a:r>
              <a:rPr lang="en-US"/>
              <a:t>Customer wants to use the software from the very beginning of the project.</a:t>
            </a:r>
            <a:endParaRPr/>
          </a:p>
          <a:p>
            <a:pPr indent="-406400" lvl="0" marL="457200" rtl="0" algn="l">
              <a:spcBef>
                <a:spcPts val="0"/>
              </a:spcBef>
              <a:spcAft>
                <a:spcPts val="0"/>
              </a:spcAft>
              <a:buSzPts val="2800"/>
              <a:buFont typeface="Calibri"/>
              <a:buChar char="•"/>
            </a:pPr>
            <a:r>
              <a:rPr lang="en-US"/>
              <a:t>Customer is quite well-known about the requirements (SRS is done and locked at the start of the each phase until development ends of that phase)</a:t>
            </a:r>
            <a:endParaRPr/>
          </a:p>
          <a:p>
            <a:pPr indent="-406400" lvl="0" marL="457200" rtl="0" algn="l">
              <a:spcBef>
                <a:spcPts val="0"/>
              </a:spcBef>
              <a:spcAft>
                <a:spcPts val="0"/>
              </a:spcAft>
              <a:buSzPts val="2800"/>
              <a:buFont typeface="Calibri"/>
              <a:buChar char="•"/>
            </a:pPr>
            <a:r>
              <a:rPr lang="en-US"/>
              <a:t>The software is divided into</a:t>
            </a:r>
            <a:r>
              <a:rPr b="1" lang="en-US">
                <a:solidFill>
                  <a:srgbClr val="980000"/>
                </a:solidFill>
              </a:rPr>
              <a:t> fixed number of increments</a:t>
            </a:r>
            <a:r>
              <a:rPr lang="en-US"/>
              <a:t> to be delivered to customers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Process of I</a:t>
            </a:r>
            <a:r>
              <a:rPr b="1" lang="en-US" sz="3300">
                <a:latin typeface="Lexend"/>
                <a:ea typeface="Lexend"/>
                <a:cs typeface="Lexend"/>
                <a:sym typeface="Lexend"/>
              </a:rPr>
              <a:t>ncremental Model</a:t>
            </a:r>
            <a:endParaRPr b="1" sz="3300">
              <a:latin typeface="Lexend"/>
              <a:ea typeface="Lexend"/>
              <a:cs typeface="Lexend"/>
              <a:sym typeface="Lexend"/>
            </a:endParaRPr>
          </a:p>
        </p:txBody>
      </p:sp>
      <p:pic>
        <p:nvPicPr>
          <p:cNvPr id="137" name="Google Shape;137;p16" title="incremental process model.jpg"/>
          <p:cNvPicPr preferRelativeResize="0"/>
          <p:nvPr/>
        </p:nvPicPr>
        <p:blipFill rotWithShape="1">
          <a:blip r:embed="rId3">
            <a:alphaModFix/>
          </a:blip>
          <a:srcRect b="5308" l="0" r="0" t="20864"/>
          <a:stretch/>
        </p:blipFill>
        <p:spPr>
          <a:xfrm>
            <a:off x="2482387" y="1556275"/>
            <a:ext cx="7227226" cy="3001300"/>
          </a:xfrm>
          <a:prstGeom prst="rect">
            <a:avLst/>
          </a:prstGeom>
          <a:noFill/>
          <a:ln>
            <a:noFill/>
          </a:ln>
        </p:spPr>
      </p:pic>
      <p:sp>
        <p:nvSpPr>
          <p:cNvPr id="138" name="Google Shape;138;p16"/>
          <p:cNvSpPr txBox="1"/>
          <p:nvPr/>
        </p:nvSpPr>
        <p:spPr>
          <a:xfrm>
            <a:off x="785825" y="4929200"/>
            <a:ext cx="10568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For example, in first increment Login module is delivered. In second increment, another new module such as Navigation module is also added. In third, one more added.</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That is, this model “adds onto” new section as increments.</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When to choose Incremental Model</a:t>
            </a:r>
            <a:endParaRPr b="1" sz="3300">
              <a:latin typeface="Lexend"/>
              <a:ea typeface="Lexend"/>
              <a:cs typeface="Lexend"/>
              <a:sym typeface="Lexend"/>
            </a:endParaRPr>
          </a:p>
        </p:txBody>
      </p:sp>
      <p:sp>
        <p:nvSpPr>
          <p:cNvPr id="144" name="Google Shape;144;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lang="en-US"/>
              <a:t>You are ready with thin slices of the overall software pieces.</a:t>
            </a:r>
            <a:endParaRPr/>
          </a:p>
          <a:p>
            <a:pPr indent="-406400" lvl="0" marL="457200" rtl="0" algn="l">
              <a:spcBef>
                <a:spcPts val="0"/>
              </a:spcBef>
              <a:spcAft>
                <a:spcPts val="0"/>
              </a:spcAft>
              <a:buSzPts val="2800"/>
              <a:buFont typeface="Calibri"/>
              <a:buChar char="•"/>
            </a:pPr>
            <a:r>
              <a:rPr lang="en-US"/>
              <a:t>Customer wants </a:t>
            </a:r>
            <a:r>
              <a:rPr b="1" lang="en-US" u="sng"/>
              <a:t>prototype </a:t>
            </a:r>
            <a:r>
              <a:rPr lang="en-US"/>
              <a:t>version of the software from the beginning of the project</a:t>
            </a:r>
            <a:endParaRPr/>
          </a:p>
          <a:p>
            <a:pPr indent="-406400" lvl="0" marL="457200" rtl="0" algn="l">
              <a:spcBef>
                <a:spcPts val="0"/>
              </a:spcBef>
              <a:spcAft>
                <a:spcPts val="0"/>
              </a:spcAft>
              <a:buSzPts val="2800"/>
              <a:buFont typeface="Calibri"/>
              <a:buChar char="•"/>
            </a:pPr>
            <a:r>
              <a:rPr lang="en-US"/>
              <a:t>Parallel stages such as requirement collection, planning etc. can take place while construction and development phase.</a:t>
            </a:r>
            <a:endParaRPr/>
          </a:p>
          <a:p>
            <a:pPr indent="-406400" lvl="0" marL="457200" rtl="0" algn="l">
              <a:spcBef>
                <a:spcPts val="0"/>
              </a:spcBef>
              <a:spcAft>
                <a:spcPts val="0"/>
              </a:spcAft>
              <a:buSzPts val="2800"/>
              <a:buFont typeface="Calibri"/>
              <a:buChar char="•"/>
            </a:pPr>
            <a:r>
              <a:rPr lang="en-US"/>
              <a:t>Increments needs to be prioritized by customers, so better chance of success (Customer feedback leads to a successful project)</a:t>
            </a:r>
            <a:endParaRPr/>
          </a:p>
          <a:p>
            <a:pPr indent="-406400" lvl="0" marL="457200" rtl="0" algn="l">
              <a:spcBef>
                <a:spcPts val="0"/>
              </a:spcBef>
              <a:spcAft>
                <a:spcPts val="0"/>
              </a:spcAft>
              <a:buSzPts val="2800"/>
              <a:buFont typeface="Calibri"/>
              <a:buChar char="•"/>
            </a:pPr>
            <a:r>
              <a:rPr lang="en-US"/>
              <a:t>Better for small or medium size projects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type="title"/>
          </p:nvPr>
        </p:nvSpPr>
        <p:spPr>
          <a:xfrm>
            <a:off x="1364600" y="225150"/>
            <a:ext cx="7329300" cy="1325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Incremental Process Model</a:t>
            </a:r>
            <a:endParaRPr/>
          </a:p>
        </p:txBody>
      </p:sp>
      <p:pic>
        <p:nvPicPr>
          <p:cNvPr id="150" name="Google Shape;150;p18"/>
          <p:cNvPicPr preferRelativeResize="0"/>
          <p:nvPr>
            <p:ph idx="1" type="body"/>
          </p:nvPr>
        </p:nvPicPr>
        <p:blipFill rotWithShape="1">
          <a:blip r:embed="rId3">
            <a:alphaModFix/>
          </a:blip>
          <a:srcRect b="0" l="0" r="0" t="0"/>
          <a:stretch/>
        </p:blipFill>
        <p:spPr>
          <a:xfrm>
            <a:off x="1422450" y="1690825"/>
            <a:ext cx="9148500" cy="4176600"/>
          </a:xfrm>
          <a:prstGeom prst="rect">
            <a:avLst/>
          </a:prstGeom>
          <a:solidFill>
            <a:srgbClr val="FF0000"/>
          </a:solidFill>
          <a:ln cap="flat" cmpd="sng" w="9525">
            <a:solidFill>
              <a:srgbClr val="78846A"/>
            </a:solidFill>
            <a:prstDash val="solid"/>
            <a:round/>
            <a:headEnd len="sm" w="sm" type="none"/>
            <a:tailEnd len="sm" w="sm" type="none"/>
          </a:ln>
        </p:spPr>
      </p:pic>
      <p:sp>
        <p:nvSpPr>
          <p:cNvPr id="151" name="Google Shape;151;p18"/>
          <p:cNvSpPr/>
          <p:nvPr/>
        </p:nvSpPr>
        <p:spPr>
          <a:xfrm>
            <a:off x="1930400" y="4585300"/>
            <a:ext cx="3454500" cy="6339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2" name="Google Shape;152;p18"/>
          <p:cNvSpPr/>
          <p:nvPr/>
        </p:nvSpPr>
        <p:spPr>
          <a:xfrm>
            <a:off x="3962400" y="3877525"/>
            <a:ext cx="3384000" cy="6339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3" name="Google Shape;153;p18"/>
          <p:cNvSpPr/>
          <p:nvPr/>
        </p:nvSpPr>
        <p:spPr>
          <a:xfrm>
            <a:off x="4368800" y="3968140"/>
            <a:ext cx="101700" cy="813000"/>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54" name="Google Shape;154;p18"/>
          <p:cNvSpPr/>
          <p:nvPr/>
        </p:nvSpPr>
        <p:spPr>
          <a:xfrm>
            <a:off x="4978400" y="4133589"/>
            <a:ext cx="101700" cy="683700"/>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pic>
        <p:nvPicPr>
          <p:cNvPr descr="brac.png" id="155" name="Google Shape;155;p18"/>
          <p:cNvPicPr preferRelativeResize="0"/>
          <p:nvPr/>
        </p:nvPicPr>
        <p:blipFill rotWithShape="1">
          <a:blip r:embed="rId4">
            <a:alphaModFix/>
          </a:blip>
          <a:srcRect b="0" l="0" r="0" t="0"/>
          <a:stretch/>
        </p:blipFill>
        <p:spPr>
          <a:xfrm>
            <a:off x="10604193"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1"/>
                                        </p:tgtEl>
                                      </p:cBhvr>
                                    </p:animEffect>
                                    <p:set>
                                      <p:cBhvr>
                                        <p:cTn dur="1" fill="hold">
                                          <p:stCondLst>
                                            <p:cond delay="500"/>
                                          </p:stCondLst>
                                        </p:cTn>
                                        <p:tgtEl>
                                          <p:spTgt spid="1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500"/>
                                        <p:tgtEl>
                                          <p:spTgt spid="1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Iterative</a:t>
            </a:r>
            <a:r>
              <a:rPr b="1" lang="en-US" sz="3300">
                <a:latin typeface="Lexend"/>
                <a:ea typeface="Lexend"/>
                <a:cs typeface="Lexend"/>
                <a:sym typeface="Lexend"/>
              </a:rPr>
              <a:t> Model</a:t>
            </a:r>
            <a:endParaRPr b="1" sz="3300">
              <a:latin typeface="Lexend"/>
              <a:ea typeface="Lexend"/>
              <a:cs typeface="Lexend"/>
              <a:sym typeface="Lexend"/>
            </a:endParaRPr>
          </a:p>
        </p:txBody>
      </p:sp>
      <p:sp>
        <p:nvSpPr>
          <p:cNvPr id="161" name="Google Shape;161;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A software process model where the software will be delivered in iterations</a:t>
            </a:r>
            <a:endParaRPr/>
          </a:p>
          <a:p>
            <a:pPr indent="0" lvl="0" marL="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Customer is not sure about the requirements</a:t>
            </a:r>
            <a:endParaRPr/>
          </a:p>
          <a:p>
            <a:pPr indent="-406400" lvl="0" marL="457200" rtl="0" algn="l">
              <a:spcBef>
                <a:spcPts val="0"/>
              </a:spcBef>
              <a:spcAft>
                <a:spcPts val="0"/>
              </a:spcAft>
              <a:buSzPts val="2800"/>
              <a:buFont typeface="Calibri"/>
              <a:buChar char="•"/>
            </a:pPr>
            <a:r>
              <a:rPr lang="en-US"/>
              <a:t>Even development team may not be sure about which technology, algorithms may be used.</a:t>
            </a:r>
            <a:endParaRPr/>
          </a:p>
          <a:p>
            <a:pPr indent="-406400" lvl="0" marL="457200" rtl="0" algn="l">
              <a:spcBef>
                <a:spcPts val="0"/>
              </a:spcBef>
              <a:spcAft>
                <a:spcPts val="0"/>
              </a:spcAft>
              <a:buSzPts val="2800"/>
              <a:buFont typeface="Calibri"/>
              <a:buChar char="•"/>
            </a:pPr>
            <a:r>
              <a:rPr lang="en-US"/>
              <a:t>There is no fixed limit of iterations, that is time is set aside.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Process of </a:t>
            </a:r>
            <a:r>
              <a:rPr b="1" lang="en-US" sz="3300">
                <a:latin typeface="Lexend"/>
                <a:ea typeface="Lexend"/>
                <a:cs typeface="Lexend"/>
                <a:sym typeface="Lexend"/>
              </a:rPr>
              <a:t>Iterative Model</a:t>
            </a:r>
            <a:endParaRPr b="1" sz="3300">
              <a:latin typeface="Lexend"/>
              <a:ea typeface="Lexend"/>
              <a:cs typeface="Lexend"/>
              <a:sym typeface="Lexend"/>
            </a:endParaRPr>
          </a:p>
        </p:txBody>
      </p:sp>
      <p:sp>
        <p:nvSpPr>
          <p:cNvPr id="167" name="Google Shape;167;p20"/>
          <p:cNvSpPr txBox="1"/>
          <p:nvPr>
            <p:ph idx="1" type="body"/>
          </p:nvPr>
        </p:nvSpPr>
        <p:spPr>
          <a:xfrm>
            <a:off x="838200" y="1825625"/>
            <a:ext cx="70557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For example, in first iteration Login module is delivered.  In second iteration,  Login module is updated again. In third iteration, Navigation module is added . And in fourth iteration some refinement is done.</a:t>
            </a:r>
            <a:endParaRPr/>
          </a:p>
          <a:p>
            <a:pPr indent="0" lvl="0" marL="0" rtl="0" algn="l">
              <a:spcBef>
                <a:spcPts val="1000"/>
              </a:spcBef>
              <a:spcAft>
                <a:spcPts val="0"/>
              </a:spcAft>
              <a:buClr>
                <a:schemeClr val="dk1"/>
              </a:buClr>
              <a:buSzPts val="1100"/>
              <a:buFont typeface="Arial"/>
              <a:buNone/>
            </a:pPr>
            <a:r>
              <a:rPr lang="en-US"/>
              <a:t>That is, this model “changes or reworks” on same section in iterations until customer accepts it.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pic>
        <p:nvPicPr>
          <p:cNvPr id="168" name="Google Shape;168;p20"/>
          <p:cNvPicPr preferRelativeResize="0"/>
          <p:nvPr/>
        </p:nvPicPr>
        <p:blipFill rotWithShape="1">
          <a:blip r:embed="rId3">
            <a:alphaModFix/>
          </a:blip>
          <a:srcRect b="7817" l="11630" r="0" t="0"/>
          <a:stretch/>
        </p:blipFill>
        <p:spPr>
          <a:xfrm>
            <a:off x="8018875" y="1750675"/>
            <a:ext cx="3893325" cy="3356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When to choose </a:t>
            </a:r>
            <a:r>
              <a:rPr b="1" lang="en-US" sz="3300">
                <a:latin typeface="Lexend"/>
                <a:ea typeface="Lexend"/>
                <a:cs typeface="Lexend"/>
                <a:sym typeface="Lexend"/>
              </a:rPr>
              <a:t>Iterative Model</a:t>
            </a:r>
            <a:endParaRPr b="1" sz="3300">
              <a:latin typeface="Lexend"/>
              <a:ea typeface="Lexend"/>
              <a:cs typeface="Lexend"/>
              <a:sym typeface="Lexend"/>
            </a:endParaRPr>
          </a:p>
        </p:txBody>
      </p:sp>
      <p:sp>
        <p:nvSpPr>
          <p:cNvPr id="174" name="Google Shape;174;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AutoNum type="arabicPeriod"/>
            </a:pPr>
            <a:r>
              <a:rPr lang="en-US"/>
              <a:t>Requirements are not fixed</a:t>
            </a:r>
            <a:endParaRPr/>
          </a:p>
          <a:p>
            <a:pPr indent="-406400" lvl="0" marL="457200" rtl="0" algn="l">
              <a:spcBef>
                <a:spcPts val="0"/>
              </a:spcBef>
              <a:spcAft>
                <a:spcPts val="0"/>
              </a:spcAft>
              <a:buSzPts val="2800"/>
              <a:buFont typeface="Calibri"/>
              <a:buAutoNum type="arabicPeriod"/>
            </a:pPr>
            <a:r>
              <a:rPr lang="en-US"/>
              <a:t>Technological tools or requirements are not identified yet.</a:t>
            </a:r>
            <a:endParaRPr/>
          </a:p>
          <a:p>
            <a:pPr indent="-406400" lvl="0" marL="457200" rtl="0" algn="l">
              <a:spcBef>
                <a:spcPts val="0"/>
              </a:spcBef>
              <a:spcAft>
                <a:spcPts val="0"/>
              </a:spcAft>
              <a:buSzPts val="2800"/>
              <a:buFont typeface="Calibri"/>
              <a:buAutoNum type="arabicPeriod"/>
            </a:pPr>
            <a:r>
              <a:rPr lang="en-US"/>
              <a:t>Instead of fixed time, quality of the features is refined with time</a:t>
            </a:r>
            <a:endParaRPr/>
          </a:p>
          <a:p>
            <a:pPr indent="-406400" lvl="0" marL="457200" rtl="0" algn="l">
              <a:spcBef>
                <a:spcPts val="0"/>
              </a:spcBef>
              <a:spcAft>
                <a:spcPts val="0"/>
              </a:spcAft>
              <a:buSzPts val="2800"/>
              <a:buFont typeface="Calibri"/>
              <a:buAutoNum type="arabicPeriod"/>
            </a:pPr>
            <a:r>
              <a:rPr lang="en-US"/>
              <a:t>Customer feedbacks with repetitive iterations increase the product quality</a:t>
            </a:r>
            <a:endParaRPr/>
          </a:p>
          <a:p>
            <a:pPr indent="-406400" lvl="0" marL="457200" rtl="0" algn="l">
              <a:spcBef>
                <a:spcPts val="0"/>
              </a:spcBef>
              <a:spcAft>
                <a:spcPts val="0"/>
              </a:spcAft>
              <a:buSzPts val="2800"/>
              <a:buFont typeface="Calibri"/>
              <a:buAutoNum type="arabicPeriod"/>
            </a:pPr>
            <a:r>
              <a:rPr lang="en-US"/>
              <a:t>Better for long-term and complex projects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Case Study</a:t>
            </a:r>
            <a:endParaRPr b="1" sz="3300">
              <a:latin typeface="Lexend"/>
              <a:ea typeface="Lexend"/>
              <a:cs typeface="Lexend"/>
              <a:sym typeface="Lexend"/>
            </a:endParaRPr>
          </a:p>
        </p:txBody>
      </p:sp>
      <p:sp>
        <p:nvSpPr>
          <p:cNvPr id="180" name="Google Shape;180;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Being a project manager of a software company, you have got a project request for developing a coronavirus awareness app. The customers initially want the app to show testing info, take appointments and visualize affected area data. Currently, the software should support only Bangla language, however English language support will be added later.</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US"/>
              <a:t>In such a case, which would you apply – Waterfall, Incremental or Iterative model?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References</a:t>
            </a:r>
            <a:endParaRPr b="1" sz="3300">
              <a:latin typeface="Lexend"/>
              <a:ea typeface="Lexend"/>
              <a:cs typeface="Lexend"/>
              <a:sym typeface="Lexend"/>
            </a:endParaRPr>
          </a:p>
        </p:txBody>
      </p:sp>
      <p:sp>
        <p:nvSpPr>
          <p:cNvPr id="186" name="Google Shape;186;p23"/>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AutoNum type="arabicPeriod"/>
            </a:pPr>
            <a:r>
              <a:rPr lang="en-US"/>
              <a:t>Roger S Pressman, Roger Pressman,"Software Engineering: A Practitioner's Approach", McGraw-Hill, 7th edition, 2010.</a:t>
            </a:r>
            <a:endParaRPr/>
          </a:p>
          <a:p>
            <a:pPr indent="-406400" lvl="0" marL="457200" rtl="0" algn="l">
              <a:spcBef>
                <a:spcPts val="0"/>
              </a:spcBef>
              <a:spcAft>
                <a:spcPts val="0"/>
              </a:spcAft>
              <a:buSzPts val="2800"/>
              <a:buFont typeface="Calibri"/>
              <a:buAutoNum type="arabicPeriod"/>
            </a:pPr>
            <a:r>
              <a:rPr lang="en-US"/>
              <a:t>https://www.geeksforgeeks.org/software-engineering/software-engineering-incremental-process-model/</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